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slideLayouts/slideLayout3.xml" ContentType="application/vnd.openxmlformats-officedocument.presentationml.slideLayout+xml"/>
  <Override PartName="/ppt/theme/theme3.xml" ContentType="application/vnd.openxmlformats-officedocument.theme+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4.xml" ContentType="application/vnd.openxmlformats-officedocument.theme+xml"/>
  <Override PartName="/ppt/slideLayouts/slideLayout8.xml" ContentType="application/vnd.openxmlformats-officedocument.presentationml.slideLayout+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changesInfos/changesInfo1.xml" ContentType="application/vnd.ms-powerpoint.changes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779" r:id="rId4"/>
    <p:sldMasterId id="2147483800" r:id="rId5"/>
    <p:sldMasterId id="2147483777" r:id="rId6"/>
    <p:sldMasterId id="2147483792" r:id="rId7"/>
    <p:sldMasterId id="2147483799" r:id="rId8"/>
  </p:sldMasterIdLst>
  <p:notesMasterIdLst>
    <p:notesMasterId r:id="rId22"/>
  </p:notesMasterIdLst>
  <p:handoutMasterIdLst>
    <p:handoutMasterId r:id="rId23"/>
  </p:handoutMasterIdLst>
  <p:sldIdLst>
    <p:sldId id="256" r:id="rId9"/>
    <p:sldId id="275" r:id="rId10"/>
    <p:sldId id="273" r:id="rId11"/>
    <p:sldId id="280" r:id="rId12"/>
    <p:sldId id="276" r:id="rId13"/>
    <p:sldId id="281" r:id="rId14"/>
    <p:sldId id="290" r:id="rId15"/>
    <p:sldId id="288" r:id="rId16"/>
    <p:sldId id="285" r:id="rId17"/>
    <p:sldId id="286" r:id="rId18"/>
    <p:sldId id="264" r:id="rId19"/>
    <p:sldId id="291" r:id="rId20"/>
    <p:sldId id="261" r:id="rId21"/>
  </p:sldIdLst>
  <p:sldSz cx="12192000" cy="6858000"/>
  <p:notesSz cx="7010400" cy="9296400"/>
  <p:embeddedFontLst>
    <p:embeddedFont>
      <p:font typeface="Avenir Next LT Pro" panose="020B0504020202020204" pitchFamily="34" charset="0"/>
      <p:regular r:id="rId24"/>
      <p:bold r:id="rId25"/>
      <p:italic r:id="rId26"/>
      <p:boldItalic r:id="rId27"/>
    </p:embeddedFont>
    <p:embeddedFont>
      <p:font typeface="Cairo" pitchFamily="2" charset="-78"/>
      <p:regular r:id="rId28"/>
      <p:bold r:id="rId29"/>
    </p:embeddedFont>
    <p:embeddedFont>
      <p:font typeface="Cairo Medium" pitchFamily="2" charset="-78"/>
      <p:regular r:id="rId3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F2B99C14-5970-F8F1-3DAC-C0B105B4BAB9}" name="Ian Shaw" initials="IS" userId="S::ishaw@asr-re.com::6620f87b-70d9-4c44-86d8-aec456ef91bd" providerId="AD"/>
  <p188:author id="{DB196B1A-AA82-8E01-0E06-70E36AAF71C9}" name="Yajnah Lowtun" initials="YL" userId="S::ylowtun@asr-re.com::4168dd90-32b8-4b9c-8760-6c7a63340bfa" providerId="AD"/>
  <p188:author id="{90282F33-9C2E-E798-EC53-5686174BE6E7}" name="Nicola Bellamy" initials="NB" userId="Nicola Bellamy" providerId="None"/>
  <p188:author id="{B3277A56-8E8E-1E28-BB4D-64CC579CEDAF}" name="Guest User" initials="GU" userId="S::urn:spo:anon#1b8ca4a8d88c0860cf5d94909de6801b2d2f8d99850551ce26b2bc72509994d4::" providerId="AD"/>
  <p188:author id="{B6F1956A-97A8-B2F5-3337-BD4C8444997B}" name="Douglas Rowlings" initials="" userId="S::drowlings@asr-re.com::5b966d7d-8f7b-44cd-8220-e74c4d50acc2" providerId="AD"/>
  <p188:author id="{4FF7BA6E-BD2A-CC3A-4779-48EFC841DD66}" name="Guest User" initials="GU" userId="S::urn:spo:anon#160fd27da8809cb84c7ae70c036c7ddd14bf1bf795b95dbf93c50206007b5911::" providerId="AD"/>
  <p188:author id="{C293CB7D-D4F4-9C61-83ED-12E0AA38819D}" name="Guest User" initials="GU" userId="S::urn:spo:anon#10b1b865b81e380fa296722533d60338c342f59fa4fe46642866813aaea10477::" providerId="AD"/>
  <p188:author id="{A04EF07E-152F-C09B-3755-45C4BCCE8CAE}" name="Caroline Hilton" initials="CH" userId="S::chilton@asr-re.com::8cb68880-ec14-4db4-91b1-5701775ddf25" providerId="AD"/>
  <p188:author id="{A3FBE887-DE55-5EBF-2168-595318E74CCC}" name="Guest User" initials="GU" userId="S::urn:spo:anon#5fefb8754686b10ac7e653b23dbf1b7e71fd8e94c2242437bbe46fbfba1a2471::" providerId="AD"/>
  <p188:author id="{595C3D95-5469-4674-4EA1-F0FB8C4C1976}" name="Martin Boreham" initials="MB" userId="S::mboreham@asr-re.com::af40969f-9aa3-4d31-bb25-a0a2ef7063e5" providerId="AD"/>
  <p188:author id="{CFD3A596-F4E4-7182-9D98-819B86911AAD}" name="Poonam Doolhur" initials="PD" userId="S::pdoolhur@asr-re.com::52431fb3-991a-46bc-9714-fc16a8dd9b42" providerId="AD"/>
  <p188:author id="{1B8DC5BA-1775-6B78-5C4A-35C1A1572EE5}" name="Vinta Bhugmaneea" initials="VB" userId="S::vbhugmaneea@asr-re.com::3937bec6-47e5-46e0-bd0a-192035b7361b" providerId="AD"/>
  <p188:author id="{FC718CE4-43C7-2949-D3FB-DE991877A4F7}" name="Guest User" initials="GU" userId="S::urn:spo:anon#1cf0bc03f144fa8d4847a36b1b29502930bcd75b313321a422dc75136f67b3d0::" providerId="AD"/>
  <p188:author id="{752879E6-3CE4-63E6-7C93-0E033D93C85A}" name="Guest User" initials="GU" userId="S::urn:spo:anon#11ea90b244ef897656048d70d2fcd21b96262122973062e5c422a66d1b585a8f::"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Milena Lacheta" initials="ML" lastIdx="35" clrIdx="0">
    <p:extLst>
      <p:ext uri="{19B8F6BF-5375-455C-9EA6-DF929625EA0E}">
        <p15:presenceInfo xmlns:p15="http://schemas.microsoft.com/office/powerpoint/2012/main" userId="S::milena.lacheta@aon.com::419de56c-25aa-4625-bce2-7911b4e87e30" providerId="AD"/>
      </p:ext>
    </p:extLst>
  </p:cmAuthor>
  <p:cmAuthor id="2" name="Nicola Bellamy" initials="NB" lastIdx="1" clrIdx="1">
    <p:extLst>
      <p:ext uri="{19B8F6BF-5375-455C-9EA6-DF929625EA0E}">
        <p15:presenceInfo xmlns:p15="http://schemas.microsoft.com/office/powerpoint/2012/main" userId="S::nbellamy@asr-re.com::999a16a5-9056-43f8-9a35-313d0a541060" providerId="AD"/>
      </p:ext>
    </p:extLst>
  </p:cmAuthor>
  <p:cmAuthor id="3" name="Stuart Hilton" initials="SH" lastIdx="3" clrIdx="2">
    <p:extLst>
      <p:ext uri="{19B8F6BF-5375-455C-9EA6-DF929625EA0E}">
        <p15:presenceInfo xmlns:p15="http://schemas.microsoft.com/office/powerpoint/2012/main" userId="d9b04da2fdcf6c86"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40B60"/>
    <a:srgbClr val="203764"/>
    <a:srgbClr val="0038A8"/>
    <a:srgbClr val="90523C"/>
    <a:srgbClr val="FFCE42"/>
    <a:srgbClr val="8F8935"/>
    <a:srgbClr val="E9EBF5"/>
    <a:srgbClr val="CFD5EA"/>
    <a:srgbClr val="FBB505"/>
    <a:srgbClr val="00808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 uri="{1BD7E111-0CB8-44D6-8891-C1BB2F81B7CC}">
      <p1710:readonlyRecommended xmlns:p1710="http://schemas.microsoft.com/office/powerpoint/2017/10/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0505E3EF-67EA-436B-97B2-0124C06EBD24}" styleName="Medium Style 4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678" autoAdjust="0"/>
    <p:restoredTop sz="94080" autoAdjust="0"/>
  </p:normalViewPr>
  <p:slideViewPr>
    <p:cSldViewPr snapToGrid="0">
      <p:cViewPr varScale="1">
        <p:scale>
          <a:sx n="72" d="100"/>
          <a:sy n="72" d="100"/>
        </p:scale>
        <p:origin x="96" y="48"/>
      </p:cViewPr>
      <p:guideLst/>
    </p:cSldViewPr>
  </p:slideViewPr>
  <p:notesTextViewPr>
    <p:cViewPr>
      <p:scale>
        <a:sx n="1" d="1"/>
        <a:sy n="1" d="1"/>
      </p:scale>
      <p:origin x="0" y="0"/>
    </p:cViewPr>
  </p:notesTextViewPr>
  <p:notesViewPr>
    <p:cSldViewPr snapToGrid="0">
      <p:cViewPr varScale="1">
        <p:scale>
          <a:sx n="83" d="100"/>
          <a:sy n="83" d="100"/>
        </p:scale>
        <p:origin x="3810" y="72"/>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5.xml"/><Relationship Id="rId18" Type="http://schemas.openxmlformats.org/officeDocument/2006/relationships/slide" Target="slides/slide10.xml"/><Relationship Id="rId26" Type="http://schemas.openxmlformats.org/officeDocument/2006/relationships/font" Target="fonts/font3.fntdata"/><Relationship Id="rId21" Type="http://schemas.openxmlformats.org/officeDocument/2006/relationships/slide" Target="slides/slide13.xml"/><Relationship Id="rId34" Type="http://schemas.openxmlformats.org/officeDocument/2006/relationships/theme" Target="theme/theme1.xml"/><Relationship Id="rId7" Type="http://schemas.openxmlformats.org/officeDocument/2006/relationships/slideMaster" Target="slideMasters/slideMaster4.xml"/><Relationship Id="rId12" Type="http://schemas.openxmlformats.org/officeDocument/2006/relationships/slide" Target="slides/slide4.xml"/><Relationship Id="rId17" Type="http://schemas.openxmlformats.org/officeDocument/2006/relationships/slide" Target="slides/slide9.xml"/><Relationship Id="rId25" Type="http://schemas.openxmlformats.org/officeDocument/2006/relationships/font" Target="fonts/font2.fntdata"/><Relationship Id="rId33"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8.xml"/><Relationship Id="rId20" Type="http://schemas.openxmlformats.org/officeDocument/2006/relationships/slide" Target="slides/slide12.xml"/><Relationship Id="rId29" Type="http://schemas.openxmlformats.org/officeDocument/2006/relationships/font" Target="fonts/font6.fntdata"/><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3.xml"/><Relationship Id="rId24" Type="http://schemas.openxmlformats.org/officeDocument/2006/relationships/font" Target="fonts/font1.fntdata"/><Relationship Id="rId32" Type="http://schemas.openxmlformats.org/officeDocument/2006/relationships/presProps" Target="presProps.xml"/><Relationship Id="rId37" Type="http://schemas.microsoft.com/office/2018/10/relationships/authors" Target="authors.xml"/><Relationship Id="rId5" Type="http://schemas.openxmlformats.org/officeDocument/2006/relationships/slideMaster" Target="slideMasters/slideMaster2.xml"/><Relationship Id="rId15" Type="http://schemas.openxmlformats.org/officeDocument/2006/relationships/slide" Target="slides/slide7.xml"/><Relationship Id="rId23" Type="http://schemas.openxmlformats.org/officeDocument/2006/relationships/handoutMaster" Target="handoutMasters/handoutMaster1.xml"/><Relationship Id="rId28" Type="http://schemas.openxmlformats.org/officeDocument/2006/relationships/font" Target="fonts/font5.fntdata"/><Relationship Id="rId36" Type="http://schemas.microsoft.com/office/2016/11/relationships/changesInfo" Target="changesInfos/changesInfo1.xml"/><Relationship Id="rId10" Type="http://schemas.openxmlformats.org/officeDocument/2006/relationships/slide" Target="slides/slide2.xml"/><Relationship Id="rId19" Type="http://schemas.openxmlformats.org/officeDocument/2006/relationships/slide" Target="slides/slide11.xml"/><Relationship Id="rId31" Type="http://schemas.openxmlformats.org/officeDocument/2006/relationships/commentAuthors" Target="commentAuthors.xml"/><Relationship Id="rId4" Type="http://schemas.openxmlformats.org/officeDocument/2006/relationships/slideMaster" Target="slideMasters/slideMaster1.xml"/><Relationship Id="rId9" Type="http://schemas.openxmlformats.org/officeDocument/2006/relationships/slide" Target="slides/slide1.xml"/><Relationship Id="rId14" Type="http://schemas.openxmlformats.org/officeDocument/2006/relationships/slide" Target="slides/slide6.xml"/><Relationship Id="rId22" Type="http://schemas.openxmlformats.org/officeDocument/2006/relationships/notesMaster" Target="notesMasters/notesMaster1.xml"/><Relationship Id="rId27" Type="http://schemas.openxmlformats.org/officeDocument/2006/relationships/font" Target="fonts/font4.fntdata"/><Relationship Id="rId30" Type="http://schemas.openxmlformats.org/officeDocument/2006/relationships/font" Target="fonts/font7.fntdata"/><Relationship Id="rId35" Type="http://schemas.openxmlformats.org/officeDocument/2006/relationships/tableStyles" Target="tableStyles.xml"/><Relationship Id="rId8" Type="http://schemas.openxmlformats.org/officeDocument/2006/relationships/slideMaster" Target="slideMasters/slideMaster5.xml"/><Relationship Id="rId3" Type="http://schemas.openxmlformats.org/officeDocument/2006/relationships/customXml" Target="../customXml/item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Flawiya Shirish More" userId="ada0e0fe-72f4-4635-a06f-315390d4cea4" providerId="ADAL" clId="{C4848432-281D-4DD8-B74E-71137D349F2D}"/>
    <pc:docChg chg="undo custSel addSld delSld modSld">
      <pc:chgData name="Flawiya Shirish More" userId="ada0e0fe-72f4-4635-a06f-315390d4cea4" providerId="ADAL" clId="{C4848432-281D-4DD8-B74E-71137D349F2D}" dt="2026-09-17T13:19:31.654" v="1502" actId="255"/>
      <pc:docMkLst>
        <pc:docMk/>
      </pc:docMkLst>
      <pc:sldChg chg="modSp mod">
        <pc:chgData name="Flawiya Shirish More" userId="ada0e0fe-72f4-4635-a06f-315390d4cea4" providerId="ADAL" clId="{C4848432-281D-4DD8-B74E-71137D349F2D}" dt="2026-09-17T12:49:12.259" v="1481" actId="20577"/>
        <pc:sldMkLst>
          <pc:docMk/>
          <pc:sldMk cId="2560068255" sldId="256"/>
        </pc:sldMkLst>
        <pc:spChg chg="mod">
          <ac:chgData name="Flawiya Shirish More" userId="ada0e0fe-72f4-4635-a06f-315390d4cea4" providerId="ADAL" clId="{C4848432-281D-4DD8-B74E-71137D349F2D}" dt="2026-09-17T12:49:12.259" v="1481" actId="20577"/>
          <ac:spMkLst>
            <pc:docMk/>
            <pc:sldMk cId="2560068255" sldId="256"/>
            <ac:spMk id="4" creationId="{DA27084E-ABB9-44FA-7331-AA8D4EAA79AB}"/>
          </ac:spMkLst>
        </pc:spChg>
      </pc:sldChg>
      <pc:sldChg chg="addSp modSp mod">
        <pc:chgData name="Flawiya Shirish More" userId="ada0e0fe-72f4-4635-a06f-315390d4cea4" providerId="ADAL" clId="{C4848432-281D-4DD8-B74E-71137D349F2D}" dt="2026-09-17T13:19:31.654" v="1502" actId="255"/>
        <pc:sldMkLst>
          <pc:docMk/>
          <pc:sldMk cId="2058117051" sldId="275"/>
        </pc:sldMkLst>
        <pc:spChg chg="mod">
          <ac:chgData name="Flawiya Shirish More" userId="ada0e0fe-72f4-4635-a06f-315390d4cea4" providerId="ADAL" clId="{C4848432-281D-4DD8-B74E-71137D349F2D}" dt="2026-09-17T13:19:00.836" v="1484" actId="14100"/>
          <ac:spMkLst>
            <pc:docMk/>
            <pc:sldMk cId="2058117051" sldId="275"/>
            <ac:spMk id="2" creationId="{AE21C3A6-CE89-7F47-8D4F-C02E13B64D52}"/>
          </ac:spMkLst>
        </pc:spChg>
        <pc:spChg chg="add mod">
          <ac:chgData name="Flawiya Shirish More" userId="ada0e0fe-72f4-4635-a06f-315390d4cea4" providerId="ADAL" clId="{C4848432-281D-4DD8-B74E-71137D349F2D}" dt="2026-09-17T13:19:31.654" v="1502" actId="255"/>
          <ac:spMkLst>
            <pc:docMk/>
            <pc:sldMk cId="2058117051" sldId="275"/>
            <ac:spMk id="6" creationId="{A04FB1BB-B035-A5C0-86DC-3C0E207A6B31}"/>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7.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C4CBB319-B97B-4CBB-A641-E78903812260}"/>
              </a:ext>
            </a:extLst>
          </p:cNvPr>
          <p:cNvSpPr>
            <a:spLocks noGrp="1"/>
          </p:cNvSpPr>
          <p:nvPr>
            <p:ph type="hdr" sz="quarter"/>
          </p:nvPr>
        </p:nvSpPr>
        <p:spPr>
          <a:xfrm>
            <a:off x="1" y="1"/>
            <a:ext cx="3037840" cy="466435"/>
          </a:xfrm>
          <a:prstGeom prst="rect">
            <a:avLst/>
          </a:prstGeom>
        </p:spPr>
        <p:txBody>
          <a:bodyPr vert="horz" lIns="96606" tIns="48303" rIns="96606" bIns="48303" rtlCol="0"/>
          <a:lstStyle>
            <a:lvl1pPr algn="l">
              <a:defRPr sz="1300"/>
            </a:lvl1pPr>
          </a:lstStyle>
          <a:p>
            <a:endParaRPr lang="en-GB"/>
          </a:p>
        </p:txBody>
      </p:sp>
      <p:sp>
        <p:nvSpPr>
          <p:cNvPr id="3" name="Date Placeholder 2">
            <a:extLst>
              <a:ext uri="{FF2B5EF4-FFF2-40B4-BE49-F238E27FC236}">
                <a16:creationId xmlns:a16="http://schemas.microsoft.com/office/drawing/2014/main" id="{66EF0A95-6E7E-4061-9F2C-9C91EABD67BD}"/>
              </a:ext>
            </a:extLst>
          </p:cNvPr>
          <p:cNvSpPr>
            <a:spLocks noGrp="1"/>
          </p:cNvSpPr>
          <p:nvPr>
            <p:ph type="dt" sz="quarter" idx="1"/>
          </p:nvPr>
        </p:nvSpPr>
        <p:spPr>
          <a:xfrm>
            <a:off x="3970938" y="1"/>
            <a:ext cx="3037840" cy="466435"/>
          </a:xfrm>
          <a:prstGeom prst="rect">
            <a:avLst/>
          </a:prstGeom>
        </p:spPr>
        <p:txBody>
          <a:bodyPr vert="horz" lIns="96606" tIns="48303" rIns="96606" bIns="48303" rtlCol="0"/>
          <a:lstStyle>
            <a:lvl1pPr algn="r">
              <a:defRPr sz="1300"/>
            </a:lvl1pPr>
          </a:lstStyle>
          <a:p>
            <a:fld id="{7E212637-B648-4452-BACF-E65DA2BAD4E2}" type="datetimeFigureOut">
              <a:rPr lang="en-GB" smtClean="0"/>
              <a:t>17/09/2026</a:t>
            </a:fld>
            <a:endParaRPr lang="en-GB"/>
          </a:p>
        </p:txBody>
      </p:sp>
      <p:sp>
        <p:nvSpPr>
          <p:cNvPr id="4" name="Footer Placeholder 3">
            <a:extLst>
              <a:ext uri="{FF2B5EF4-FFF2-40B4-BE49-F238E27FC236}">
                <a16:creationId xmlns:a16="http://schemas.microsoft.com/office/drawing/2014/main" id="{8827FC16-0F79-4A2B-A92B-1FE4665C415A}"/>
              </a:ext>
            </a:extLst>
          </p:cNvPr>
          <p:cNvSpPr>
            <a:spLocks noGrp="1"/>
          </p:cNvSpPr>
          <p:nvPr>
            <p:ph type="ftr" sz="quarter" idx="2"/>
          </p:nvPr>
        </p:nvSpPr>
        <p:spPr>
          <a:xfrm>
            <a:off x="1" y="8829967"/>
            <a:ext cx="3037840" cy="466433"/>
          </a:xfrm>
          <a:prstGeom prst="rect">
            <a:avLst/>
          </a:prstGeom>
        </p:spPr>
        <p:txBody>
          <a:bodyPr vert="horz" lIns="96606" tIns="48303" rIns="96606" bIns="48303" rtlCol="0" anchor="b"/>
          <a:lstStyle>
            <a:lvl1pPr algn="l">
              <a:defRPr sz="1300"/>
            </a:lvl1pPr>
          </a:lstStyle>
          <a:p>
            <a:endParaRPr lang="en-GB"/>
          </a:p>
        </p:txBody>
      </p:sp>
      <p:sp>
        <p:nvSpPr>
          <p:cNvPr id="5" name="Slide Number Placeholder 4">
            <a:extLst>
              <a:ext uri="{FF2B5EF4-FFF2-40B4-BE49-F238E27FC236}">
                <a16:creationId xmlns:a16="http://schemas.microsoft.com/office/drawing/2014/main" id="{C6069C03-D245-4536-B5A9-5EC7D8E66541}"/>
              </a:ext>
            </a:extLst>
          </p:cNvPr>
          <p:cNvSpPr>
            <a:spLocks noGrp="1"/>
          </p:cNvSpPr>
          <p:nvPr>
            <p:ph type="sldNum" sz="quarter" idx="3"/>
          </p:nvPr>
        </p:nvSpPr>
        <p:spPr>
          <a:xfrm>
            <a:off x="3970938" y="8829967"/>
            <a:ext cx="3037840" cy="466433"/>
          </a:xfrm>
          <a:prstGeom prst="rect">
            <a:avLst/>
          </a:prstGeom>
        </p:spPr>
        <p:txBody>
          <a:bodyPr vert="horz" lIns="96606" tIns="48303" rIns="96606" bIns="48303" rtlCol="0" anchor="b"/>
          <a:lstStyle>
            <a:lvl1pPr algn="r">
              <a:defRPr sz="1300"/>
            </a:lvl1pPr>
          </a:lstStyle>
          <a:p>
            <a:fld id="{D7AD0E15-8375-4EC5-BA43-4236D632E37E}" type="slidenum">
              <a:rPr lang="en-GB" smtClean="0"/>
              <a:t>‹#›</a:t>
            </a:fld>
            <a:endParaRPr lang="en-GB"/>
          </a:p>
        </p:txBody>
      </p:sp>
    </p:spTree>
    <p:extLst>
      <p:ext uri="{BB962C8B-B14F-4D97-AF65-F5344CB8AC3E}">
        <p14:creationId xmlns:p14="http://schemas.microsoft.com/office/powerpoint/2010/main" val="359848500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1"/>
            <a:ext cx="3037840" cy="466435"/>
          </a:xfrm>
          <a:prstGeom prst="rect">
            <a:avLst/>
          </a:prstGeom>
        </p:spPr>
        <p:txBody>
          <a:bodyPr vert="horz" lIns="96606" tIns="48303" rIns="96606" bIns="48303" rtlCol="0"/>
          <a:lstStyle>
            <a:lvl1pPr algn="l">
              <a:defRPr sz="1300"/>
            </a:lvl1pPr>
          </a:lstStyle>
          <a:p>
            <a:endParaRPr lang="en-GB"/>
          </a:p>
        </p:txBody>
      </p:sp>
      <p:sp>
        <p:nvSpPr>
          <p:cNvPr id="3" name="Date Placeholder 2"/>
          <p:cNvSpPr>
            <a:spLocks noGrp="1"/>
          </p:cNvSpPr>
          <p:nvPr>
            <p:ph type="dt" idx="1"/>
          </p:nvPr>
        </p:nvSpPr>
        <p:spPr>
          <a:xfrm>
            <a:off x="3970938" y="1"/>
            <a:ext cx="3037840" cy="466435"/>
          </a:xfrm>
          <a:prstGeom prst="rect">
            <a:avLst/>
          </a:prstGeom>
        </p:spPr>
        <p:txBody>
          <a:bodyPr vert="horz" lIns="96606" tIns="48303" rIns="96606" bIns="48303" rtlCol="0"/>
          <a:lstStyle>
            <a:lvl1pPr algn="r">
              <a:defRPr sz="1300"/>
            </a:lvl1pPr>
          </a:lstStyle>
          <a:p>
            <a:fld id="{62716337-CC0F-4749-A815-C181EEAC580D}" type="datetimeFigureOut">
              <a:rPr lang="en-GB" smtClean="0"/>
              <a:t>17/09/2026</a:t>
            </a:fld>
            <a:endParaRPr lang="en-GB"/>
          </a:p>
        </p:txBody>
      </p:sp>
      <p:sp>
        <p:nvSpPr>
          <p:cNvPr id="4" name="Slide Image Placeholder 3"/>
          <p:cNvSpPr>
            <a:spLocks noGrp="1" noRot="1" noChangeAspect="1"/>
          </p:cNvSpPr>
          <p:nvPr>
            <p:ph type="sldImg" idx="2"/>
          </p:nvPr>
        </p:nvSpPr>
        <p:spPr>
          <a:xfrm>
            <a:off x="715963" y="1162050"/>
            <a:ext cx="5578475" cy="3138488"/>
          </a:xfrm>
          <a:prstGeom prst="rect">
            <a:avLst/>
          </a:prstGeom>
          <a:noFill/>
          <a:ln w="12700">
            <a:solidFill>
              <a:prstClr val="black"/>
            </a:solidFill>
          </a:ln>
        </p:spPr>
        <p:txBody>
          <a:bodyPr vert="horz" lIns="96606" tIns="48303" rIns="96606" bIns="48303" rtlCol="0" anchor="ctr"/>
          <a:lstStyle/>
          <a:p>
            <a:endParaRPr lang="en-GB"/>
          </a:p>
        </p:txBody>
      </p:sp>
      <p:sp>
        <p:nvSpPr>
          <p:cNvPr id="5" name="Notes Placeholder 4"/>
          <p:cNvSpPr>
            <a:spLocks noGrp="1"/>
          </p:cNvSpPr>
          <p:nvPr>
            <p:ph type="body" sz="quarter" idx="3"/>
          </p:nvPr>
        </p:nvSpPr>
        <p:spPr>
          <a:xfrm>
            <a:off x="701041" y="4473894"/>
            <a:ext cx="5608320" cy="3660457"/>
          </a:xfrm>
          <a:prstGeom prst="rect">
            <a:avLst/>
          </a:prstGeom>
        </p:spPr>
        <p:txBody>
          <a:bodyPr vert="horz" lIns="96606" tIns="48303" rIns="96606" bIns="48303"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1" y="8829967"/>
            <a:ext cx="3037840" cy="466433"/>
          </a:xfrm>
          <a:prstGeom prst="rect">
            <a:avLst/>
          </a:prstGeom>
        </p:spPr>
        <p:txBody>
          <a:bodyPr vert="horz" lIns="96606" tIns="48303" rIns="96606" bIns="48303" rtlCol="0" anchor="b"/>
          <a:lstStyle>
            <a:lvl1pPr algn="l">
              <a:defRPr sz="1300"/>
            </a:lvl1pPr>
          </a:lstStyle>
          <a:p>
            <a:endParaRPr lang="en-GB"/>
          </a:p>
        </p:txBody>
      </p:sp>
      <p:sp>
        <p:nvSpPr>
          <p:cNvPr id="7" name="Slide Number Placeholder 6"/>
          <p:cNvSpPr>
            <a:spLocks noGrp="1"/>
          </p:cNvSpPr>
          <p:nvPr>
            <p:ph type="sldNum" sz="quarter" idx="5"/>
          </p:nvPr>
        </p:nvSpPr>
        <p:spPr>
          <a:xfrm>
            <a:off x="3970938" y="8829967"/>
            <a:ext cx="3037840" cy="466433"/>
          </a:xfrm>
          <a:prstGeom prst="rect">
            <a:avLst/>
          </a:prstGeom>
        </p:spPr>
        <p:txBody>
          <a:bodyPr vert="horz" lIns="96606" tIns="48303" rIns="96606" bIns="48303" rtlCol="0" anchor="b"/>
          <a:lstStyle>
            <a:lvl1pPr algn="r">
              <a:defRPr sz="1300"/>
            </a:lvl1pPr>
          </a:lstStyle>
          <a:p>
            <a:fld id="{F5BC383E-D29A-4571-8EFA-3D5D82F6232B}" type="slidenum">
              <a:rPr lang="en-GB" smtClean="0"/>
              <a:t>‹#›</a:t>
            </a:fld>
            <a:endParaRPr lang="en-GB"/>
          </a:p>
        </p:txBody>
      </p:sp>
    </p:spTree>
    <p:extLst>
      <p:ext uri="{BB962C8B-B14F-4D97-AF65-F5344CB8AC3E}">
        <p14:creationId xmlns:p14="http://schemas.microsoft.com/office/powerpoint/2010/main" val="250974351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F5BC383E-D29A-4571-8EFA-3D5D82F6232B}" type="slidenum">
              <a:rPr lang="en-GB" smtClean="0"/>
              <a:t>1</a:t>
            </a:fld>
            <a:endParaRPr lang="en-GB"/>
          </a:p>
        </p:txBody>
      </p:sp>
    </p:spTree>
    <p:extLst>
      <p:ext uri="{BB962C8B-B14F-4D97-AF65-F5344CB8AC3E}">
        <p14:creationId xmlns:p14="http://schemas.microsoft.com/office/powerpoint/2010/main" val="272547840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b="0" i="1" kern="1200" dirty="0">
                <a:solidFill>
                  <a:schemeClr val="tx1"/>
                </a:solidFill>
                <a:effectLst/>
                <a:latin typeface="+mn-lt"/>
                <a:ea typeface="+mn-ea"/>
                <a:cs typeface="+mn-cs"/>
              </a:rPr>
              <a:t>Engineered a continental-scale parametric flood hazard model covering 1,638 agricultural districts across 17 historical crop seasons from 2008 through 2024.</a:t>
            </a:r>
          </a:p>
          <a:p>
            <a:r>
              <a:rPr lang="en-GB" sz="1200" b="0" i="1" kern="1200" dirty="0">
                <a:solidFill>
                  <a:schemeClr val="tx1"/>
                </a:solidFill>
                <a:effectLst/>
                <a:latin typeface="+mn-lt"/>
                <a:ea typeface="+mn-ea"/>
                <a:cs typeface="+mn-cs"/>
              </a:rPr>
              <a:t>Core objective is to establish agronomically validated parametric flood triggers that protect insurer capital while eliminating basis risk for agricultural production across the African continent.</a:t>
            </a:r>
          </a:p>
          <a:p>
            <a:endParaRPr lang="en-GB" dirty="0"/>
          </a:p>
        </p:txBody>
      </p:sp>
      <p:sp>
        <p:nvSpPr>
          <p:cNvPr id="4" name="Slide Number Placeholder 3"/>
          <p:cNvSpPr>
            <a:spLocks noGrp="1"/>
          </p:cNvSpPr>
          <p:nvPr>
            <p:ph type="sldNum" sz="quarter" idx="5"/>
          </p:nvPr>
        </p:nvSpPr>
        <p:spPr/>
        <p:txBody>
          <a:bodyPr/>
          <a:lstStyle/>
          <a:p>
            <a:fld id="{F5BC383E-D29A-4571-8EFA-3D5D82F6232B}" type="slidenum">
              <a:rPr lang="en-GB" smtClean="0"/>
              <a:t>2</a:t>
            </a:fld>
            <a:endParaRPr lang="en-GB"/>
          </a:p>
        </p:txBody>
      </p:sp>
    </p:spTree>
    <p:extLst>
      <p:ext uri="{BB962C8B-B14F-4D97-AF65-F5344CB8AC3E}">
        <p14:creationId xmlns:p14="http://schemas.microsoft.com/office/powerpoint/2010/main" val="194108010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b="0" i="1" kern="1200" dirty="0">
                <a:solidFill>
                  <a:schemeClr val="tx1"/>
                </a:solidFill>
                <a:effectLst/>
                <a:latin typeface="+mn-lt"/>
                <a:ea typeface="+mn-ea"/>
                <a:cs typeface="+mn-cs"/>
              </a:rPr>
              <a:t>To understand why we built this pipeline, we must start with our primary underwriting objective: enabling a true cross-continental spread of agricultural flood risk.</a:t>
            </a:r>
          </a:p>
          <a:p>
            <a:r>
              <a:rPr lang="en-GB" sz="1200" b="0" i="1" kern="1200" dirty="0">
                <a:solidFill>
                  <a:schemeClr val="tx1"/>
                </a:solidFill>
                <a:effectLst/>
                <a:latin typeface="+mn-lt"/>
                <a:ea typeface="+mn-ea"/>
                <a:cs typeface="+mn-cs"/>
              </a:rPr>
              <a:t>In parametric reinsurance, a single major flood can submerge dozens of adjacent farming districts, causing severe capital accumulation.</a:t>
            </a:r>
          </a:p>
          <a:p>
            <a:r>
              <a:rPr lang="en-GB" sz="1200" b="0" i="1" kern="1200" dirty="0">
                <a:solidFill>
                  <a:schemeClr val="tx1"/>
                </a:solidFill>
                <a:effectLst/>
                <a:latin typeface="+mn-lt"/>
                <a:ea typeface="+mn-ea"/>
                <a:cs typeface="+mn-cs"/>
              </a:rPr>
              <a:t>If we write policies strictly in geographically concentrated farming belts, our solvency ratio is vulnerable to single-event shocks.</a:t>
            </a:r>
          </a:p>
          <a:p>
            <a:r>
              <a:rPr lang="en-GB" sz="1200" b="0" i="1" kern="1200" dirty="0">
                <a:solidFill>
                  <a:schemeClr val="tx1"/>
                </a:solidFill>
                <a:effectLst/>
                <a:latin typeface="+mn-lt"/>
                <a:ea typeface="+mn-ea"/>
                <a:cs typeface="+mn-cs"/>
              </a:rPr>
              <a:t>Our solution is to use high-resolution satellite time-series data to identify 'uncorrelated agricultural regions.’</a:t>
            </a:r>
          </a:p>
          <a:p>
            <a:r>
              <a:rPr lang="en-GB" sz="1200" b="0" i="1" kern="1200" dirty="0">
                <a:solidFill>
                  <a:schemeClr val="tx1"/>
                </a:solidFill>
                <a:effectLst/>
                <a:latin typeface="+mn-lt"/>
                <a:ea typeface="+mn-ea"/>
                <a:cs typeface="+mn-cs"/>
              </a:rPr>
              <a:t>By building a portfolio containing districts whose flood profiles do not trigger at the same time, we maintain structural solvency even during extreme disaster years.</a:t>
            </a:r>
            <a:endParaRPr lang="en-GB" dirty="0"/>
          </a:p>
        </p:txBody>
      </p:sp>
      <p:sp>
        <p:nvSpPr>
          <p:cNvPr id="4" name="Slide Number Placeholder 3"/>
          <p:cNvSpPr>
            <a:spLocks noGrp="1"/>
          </p:cNvSpPr>
          <p:nvPr>
            <p:ph type="sldNum" sz="quarter" idx="5"/>
          </p:nvPr>
        </p:nvSpPr>
        <p:spPr/>
        <p:txBody>
          <a:bodyPr/>
          <a:lstStyle/>
          <a:p>
            <a:fld id="{F5BC383E-D29A-4571-8EFA-3D5D82F6232B}" type="slidenum">
              <a:rPr lang="en-GB" smtClean="0"/>
              <a:t>3</a:t>
            </a:fld>
            <a:endParaRPr lang="en-GB"/>
          </a:p>
        </p:txBody>
      </p:sp>
    </p:spTree>
    <p:extLst>
      <p:ext uri="{BB962C8B-B14F-4D97-AF65-F5344CB8AC3E}">
        <p14:creationId xmlns:p14="http://schemas.microsoft.com/office/powerpoint/2010/main" val="158766218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b="0" i="1" kern="1200" dirty="0">
                <a:solidFill>
                  <a:schemeClr val="tx1"/>
                </a:solidFill>
                <a:effectLst/>
                <a:latin typeface="+mn-lt"/>
                <a:ea typeface="+mn-ea"/>
                <a:cs typeface="+mn-cs"/>
              </a:rPr>
              <a:t>Focuses on agricultural flooding specifically root-zone waterlogging.</a:t>
            </a:r>
          </a:p>
          <a:p>
            <a:r>
              <a:rPr lang="en-GB" sz="1200" b="0" i="1" kern="1200" dirty="0">
                <a:solidFill>
                  <a:schemeClr val="tx1"/>
                </a:solidFill>
                <a:effectLst/>
                <a:latin typeface="+mn-lt"/>
                <a:ea typeface="+mn-ea"/>
                <a:cs typeface="+mn-cs"/>
              </a:rPr>
              <a:t>When excessive rainfall accumulates, water fills soil pores and displaces oxygen. </a:t>
            </a:r>
          </a:p>
          <a:p>
            <a:r>
              <a:rPr lang="en-GB" sz="1200" b="0" i="1" kern="1200" dirty="0">
                <a:solidFill>
                  <a:schemeClr val="tx1"/>
                </a:solidFill>
                <a:effectLst/>
                <a:latin typeface="+mn-lt"/>
                <a:ea typeface="+mn-ea"/>
                <a:cs typeface="+mn-cs"/>
              </a:rPr>
              <a:t>To model agricultural waterlogging, we isolated 1,638 primary crop-growing districts across Africa using GADM Level 2 boundaries.</a:t>
            </a:r>
          </a:p>
          <a:p>
            <a:r>
              <a:rPr lang="en-GB" sz="1200" b="0" i="1" kern="1200" dirty="0">
                <a:solidFill>
                  <a:schemeClr val="tx1"/>
                </a:solidFill>
                <a:effectLst/>
                <a:latin typeface="+mn-lt"/>
                <a:ea typeface="+mn-ea"/>
                <a:cs typeface="+mn-cs"/>
              </a:rPr>
              <a:t>Crucially, every single day of observation was filtered through GEOGLAM V1.4 crop calendars.</a:t>
            </a:r>
          </a:p>
          <a:p>
            <a:r>
              <a:rPr lang="en-GB" sz="1200" b="0" i="1" kern="1200" dirty="0">
                <a:solidFill>
                  <a:schemeClr val="tx1"/>
                </a:solidFill>
                <a:effectLst/>
                <a:latin typeface="+mn-lt"/>
                <a:ea typeface="+mn-ea"/>
                <a:cs typeface="+mn-cs"/>
              </a:rPr>
              <a:t>Evaluate flood risk exclusively when crops are actively growing in the field, ensuring that off-season rainfall does not generate false insurance triggers.</a:t>
            </a:r>
            <a:endParaRPr lang="en-GB" dirty="0"/>
          </a:p>
        </p:txBody>
      </p:sp>
      <p:sp>
        <p:nvSpPr>
          <p:cNvPr id="4" name="Slide Number Placeholder 3"/>
          <p:cNvSpPr>
            <a:spLocks noGrp="1"/>
          </p:cNvSpPr>
          <p:nvPr>
            <p:ph type="sldNum" sz="quarter" idx="5"/>
          </p:nvPr>
        </p:nvSpPr>
        <p:spPr/>
        <p:txBody>
          <a:bodyPr/>
          <a:lstStyle/>
          <a:p>
            <a:fld id="{F5BC383E-D29A-4571-8EFA-3D5D82F6232B}" type="slidenum">
              <a:rPr lang="en-GB" smtClean="0"/>
              <a:t>4</a:t>
            </a:fld>
            <a:endParaRPr lang="en-GB"/>
          </a:p>
        </p:txBody>
      </p:sp>
    </p:spTree>
    <p:extLst>
      <p:ext uri="{BB962C8B-B14F-4D97-AF65-F5344CB8AC3E}">
        <p14:creationId xmlns:p14="http://schemas.microsoft.com/office/powerpoint/2010/main" val="383278583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b="0" i="1" kern="1200" dirty="0">
                <a:solidFill>
                  <a:schemeClr val="tx1"/>
                </a:solidFill>
                <a:effectLst/>
                <a:latin typeface="+mn-lt"/>
                <a:ea typeface="+mn-ea"/>
                <a:cs typeface="+mn-cs"/>
              </a:rPr>
              <a:t>Why did we choose the Copernicus Soil Water Index ($SWI_{T=10}$) over raw precipitation or reanalysis soil moisture?</a:t>
            </a:r>
          </a:p>
          <a:p>
            <a:r>
              <a:rPr lang="en-GB" sz="1200" b="0" i="1" kern="1200" dirty="0">
                <a:solidFill>
                  <a:schemeClr val="tx1"/>
                </a:solidFill>
                <a:effectLst/>
                <a:latin typeface="+mn-lt"/>
                <a:ea typeface="+mn-ea"/>
                <a:cs typeface="+mn-cs"/>
              </a:rPr>
              <a:t>Raw rainfall models fail because a 50mm storm has completely different impacts on dry sand versus saturated clay.</a:t>
            </a:r>
          </a:p>
          <a:p>
            <a:r>
              <a:rPr lang="en-GB" sz="1200" b="0" i="1" kern="1200" dirty="0">
                <a:solidFill>
                  <a:schemeClr val="tx1"/>
                </a:solidFill>
                <a:effectLst/>
                <a:latin typeface="+mn-lt"/>
                <a:ea typeface="+mn-ea"/>
                <a:cs typeface="+mn-cs"/>
              </a:rPr>
              <a:t>Reanalysis soil moisture often exhibits arbitrary artificial caps.</a:t>
            </a:r>
          </a:p>
          <a:p>
            <a:r>
              <a:rPr lang="en-GB" sz="1200" b="0" i="1" kern="1200" dirty="0">
                <a:solidFill>
                  <a:schemeClr val="tx1"/>
                </a:solidFill>
                <a:effectLst/>
                <a:latin typeface="+mn-lt"/>
                <a:ea typeface="+mn-ea"/>
                <a:cs typeface="+mn-cs"/>
              </a:rPr>
              <a:t>The Copernicus SWI product uses active radar scatterometry from </a:t>
            </a:r>
            <a:r>
              <a:rPr lang="en-GB" sz="1200" b="0" i="1" kern="1200" dirty="0" err="1">
                <a:solidFill>
                  <a:schemeClr val="tx1"/>
                </a:solidFill>
                <a:effectLst/>
                <a:latin typeface="+mn-lt"/>
                <a:ea typeface="+mn-ea"/>
                <a:cs typeface="+mn-cs"/>
              </a:rPr>
              <a:t>MetOp</a:t>
            </a:r>
            <a:r>
              <a:rPr lang="en-GB" sz="1200" b="0" i="1" kern="1200" dirty="0">
                <a:solidFill>
                  <a:schemeClr val="tx1"/>
                </a:solidFill>
                <a:effectLst/>
                <a:latin typeface="+mn-lt"/>
                <a:ea typeface="+mn-ea"/>
                <a:cs typeface="+mn-cs"/>
              </a:rPr>
              <a:t> satellites to measure actual physical soil saturation from 0 to 100%.</a:t>
            </a:r>
          </a:p>
          <a:p>
            <a:r>
              <a:rPr lang="en-GB" sz="1200" b="0" i="1" kern="1200" dirty="0">
                <a:solidFill>
                  <a:schemeClr val="tx1"/>
                </a:solidFill>
                <a:effectLst/>
                <a:latin typeface="+mn-lt"/>
                <a:ea typeface="+mn-ea"/>
                <a:cs typeface="+mn-cs"/>
              </a:rPr>
              <a:t>By applying a 10-day exponential filter ($T=10$), it models the exact infiltration dynamics in the top 0–28 cm root zone.</a:t>
            </a:r>
          </a:p>
          <a:p>
            <a:r>
              <a:rPr lang="en-GB" sz="1200" b="0" i="1" kern="1200" dirty="0">
                <a:solidFill>
                  <a:schemeClr val="tx1"/>
                </a:solidFill>
                <a:effectLst/>
                <a:latin typeface="+mn-lt"/>
                <a:ea typeface="+mn-ea"/>
                <a:cs typeface="+mn-cs"/>
              </a:rPr>
              <a:t>It is globally standardized, radar-backed, and operational.</a:t>
            </a:r>
          </a:p>
          <a:p>
            <a:r>
              <a:rPr lang="en-GB" sz="1200" b="0" i="0" kern="1200" dirty="0">
                <a:solidFill>
                  <a:schemeClr val="tx1"/>
                </a:solidFill>
                <a:effectLst/>
                <a:latin typeface="+mn-lt"/>
                <a:ea typeface="+mn-ea"/>
                <a:cs typeface="+mn-cs"/>
              </a:rPr>
              <a:t>Spatial Resolution: 12.5 km x 12.5 km (0.1° grid), aggregated to GADM Level 2 districts.</a:t>
            </a:r>
            <a:endParaRPr lang="en-GB" sz="1200" b="0" i="1" kern="1200" dirty="0">
              <a:solidFill>
                <a:schemeClr val="tx1"/>
              </a:solidFill>
              <a:effectLst/>
              <a:latin typeface="+mn-lt"/>
              <a:ea typeface="+mn-ea"/>
              <a:cs typeface="+mn-cs"/>
            </a:endParaRPr>
          </a:p>
          <a:p>
            <a:endParaRPr lang="en-GB" sz="1200" b="0" i="1" kern="1200" dirty="0">
              <a:solidFill>
                <a:schemeClr val="tx1"/>
              </a:solidFill>
              <a:effectLst/>
              <a:latin typeface="+mn-lt"/>
              <a:ea typeface="+mn-ea"/>
              <a:cs typeface="+mn-cs"/>
            </a:endParaRPr>
          </a:p>
          <a:p>
            <a:pPr lvl="0"/>
            <a:r>
              <a:rPr lang="en-GB" sz="1200" b="1" i="0" kern="1200" dirty="0" err="1">
                <a:solidFill>
                  <a:schemeClr val="tx1"/>
                </a:solidFill>
                <a:effectLst/>
                <a:latin typeface="+mn-lt"/>
                <a:ea typeface="+mn-ea"/>
                <a:cs typeface="+mn-cs"/>
              </a:rPr>
              <a:t>MetOp</a:t>
            </a:r>
            <a:r>
              <a:rPr lang="en-GB" sz="1200" b="0" i="0" kern="1200" dirty="0">
                <a:solidFill>
                  <a:schemeClr val="tx1"/>
                </a:solidFill>
                <a:effectLst/>
                <a:latin typeface="+mn-lt"/>
                <a:ea typeface="+mn-ea"/>
                <a:cs typeface="+mn-cs"/>
              </a:rPr>
              <a:t>: </a:t>
            </a:r>
            <a:r>
              <a:rPr lang="en-GB" sz="1200" b="1" i="0" kern="1200" dirty="0">
                <a:solidFill>
                  <a:schemeClr val="tx1"/>
                </a:solidFill>
                <a:effectLst/>
                <a:latin typeface="+mn-lt"/>
                <a:ea typeface="+mn-ea"/>
                <a:cs typeface="+mn-cs"/>
              </a:rPr>
              <a:t>Meteorological Operational Satellite</a:t>
            </a:r>
            <a:r>
              <a:rPr lang="en-GB" sz="1200" b="0" i="0" kern="1200" dirty="0">
                <a:solidFill>
                  <a:schemeClr val="tx1"/>
                </a:solidFill>
                <a:effectLst/>
                <a:latin typeface="+mn-lt"/>
                <a:ea typeface="+mn-ea"/>
                <a:cs typeface="+mn-cs"/>
              </a:rPr>
              <a:t> (a constellation of polar-orbiting satellites operated by </a:t>
            </a:r>
            <a:r>
              <a:rPr lang="en-GB" sz="1200" b="1" i="0" kern="1200" dirty="0">
                <a:solidFill>
                  <a:schemeClr val="tx1"/>
                </a:solidFill>
                <a:effectLst/>
                <a:latin typeface="+mn-lt"/>
                <a:ea typeface="+mn-ea"/>
                <a:cs typeface="+mn-cs"/>
              </a:rPr>
              <a:t>EUMETSAT</a:t>
            </a:r>
            <a:r>
              <a:rPr lang="en-GB" sz="1200" b="0" i="0" kern="1200" dirty="0">
                <a:solidFill>
                  <a:schemeClr val="tx1"/>
                </a:solidFill>
                <a:effectLst/>
                <a:latin typeface="+mn-lt"/>
                <a:ea typeface="+mn-ea"/>
                <a:cs typeface="+mn-cs"/>
              </a:rPr>
              <a:t> and the European Space Agency - ESA).</a:t>
            </a:r>
          </a:p>
          <a:p>
            <a:pPr lvl="0"/>
            <a:r>
              <a:rPr lang="en-GB" sz="1200" b="1" i="0" kern="1200" dirty="0">
                <a:solidFill>
                  <a:schemeClr val="tx1"/>
                </a:solidFill>
                <a:effectLst/>
                <a:latin typeface="+mn-lt"/>
                <a:ea typeface="+mn-ea"/>
                <a:cs typeface="+mn-cs"/>
              </a:rPr>
              <a:t>ASCAT</a:t>
            </a:r>
            <a:r>
              <a:rPr lang="en-GB" sz="1200" b="0" i="0" kern="1200" dirty="0">
                <a:solidFill>
                  <a:schemeClr val="tx1"/>
                </a:solidFill>
                <a:effectLst/>
                <a:latin typeface="+mn-lt"/>
                <a:ea typeface="+mn-ea"/>
                <a:cs typeface="+mn-cs"/>
              </a:rPr>
              <a:t>: </a:t>
            </a:r>
            <a:r>
              <a:rPr lang="en-GB" sz="1200" b="1" i="0" kern="1200" dirty="0">
                <a:solidFill>
                  <a:schemeClr val="tx1"/>
                </a:solidFill>
                <a:effectLst/>
                <a:latin typeface="+mn-lt"/>
                <a:ea typeface="+mn-ea"/>
                <a:cs typeface="+mn-cs"/>
              </a:rPr>
              <a:t>Advanced </a:t>
            </a:r>
            <a:r>
              <a:rPr lang="en-GB" sz="1200" b="1" i="0" kern="1200" dirty="0" err="1">
                <a:solidFill>
                  <a:schemeClr val="tx1"/>
                </a:solidFill>
                <a:effectLst/>
                <a:latin typeface="+mn-lt"/>
                <a:ea typeface="+mn-ea"/>
                <a:cs typeface="+mn-cs"/>
              </a:rPr>
              <a:t>Scatterometer</a:t>
            </a:r>
            <a:r>
              <a:rPr lang="en-GB" sz="1200" b="0" i="0" kern="1200" dirty="0">
                <a:solidFill>
                  <a:schemeClr val="tx1"/>
                </a:solidFill>
                <a:effectLst/>
                <a:latin typeface="+mn-lt"/>
                <a:ea typeface="+mn-ea"/>
                <a:cs typeface="+mn-cs"/>
              </a:rPr>
              <a:t> (the radar instrument onboard the </a:t>
            </a:r>
            <a:r>
              <a:rPr lang="en-GB" sz="1200" b="0" i="0" kern="1200" dirty="0" err="1">
                <a:solidFill>
                  <a:schemeClr val="tx1"/>
                </a:solidFill>
                <a:effectLst/>
                <a:latin typeface="+mn-lt"/>
                <a:ea typeface="+mn-ea"/>
                <a:cs typeface="+mn-cs"/>
              </a:rPr>
              <a:t>MetOp</a:t>
            </a:r>
            <a:r>
              <a:rPr lang="en-GB" sz="1200" b="0" i="0" kern="1200" dirty="0">
                <a:solidFill>
                  <a:schemeClr val="tx1"/>
                </a:solidFill>
                <a:effectLst/>
                <a:latin typeface="+mn-lt"/>
                <a:ea typeface="+mn-ea"/>
                <a:cs typeface="+mn-cs"/>
              </a:rPr>
              <a:t> satellites).</a:t>
            </a:r>
          </a:p>
          <a:p>
            <a:endParaRPr lang="en-GB" dirty="0"/>
          </a:p>
          <a:p>
            <a:pPr marL="0" marR="0" lvl="0" indent="0" algn="l" defTabSz="914400" rtl="0" eaLnBrk="1" fontAlgn="auto" latinLnBrk="0" hangingPunct="1">
              <a:lnSpc>
                <a:spcPct val="100000"/>
              </a:lnSpc>
              <a:spcBef>
                <a:spcPts val="0"/>
              </a:spcBef>
              <a:spcAft>
                <a:spcPts val="0"/>
              </a:spcAft>
              <a:buClrTx/>
              <a:buSzTx/>
              <a:buFontTx/>
              <a:buNone/>
              <a:tabLst/>
              <a:defRPr/>
            </a:pPr>
            <a:r>
              <a:rPr lang="en-GB" sz="1200" b="1" i="0" kern="1200" dirty="0" err="1">
                <a:solidFill>
                  <a:schemeClr val="tx1"/>
                </a:solidFill>
                <a:effectLst/>
                <a:latin typeface="+mn-lt"/>
                <a:ea typeface="+mn-ea"/>
                <a:cs typeface="+mn-cs"/>
              </a:rPr>
              <a:t>MetOp</a:t>
            </a:r>
            <a:r>
              <a:rPr lang="en-GB" sz="1200" b="1" i="0" kern="1200" dirty="0">
                <a:solidFill>
                  <a:schemeClr val="tx1"/>
                </a:solidFill>
                <a:effectLst/>
                <a:latin typeface="+mn-lt"/>
                <a:ea typeface="+mn-ea"/>
                <a:cs typeface="+mn-cs"/>
              </a:rPr>
              <a:t> ASCAT Radar</a:t>
            </a:r>
            <a:r>
              <a:rPr lang="en-GB" sz="1200" b="0" i="0" kern="1200" dirty="0">
                <a:solidFill>
                  <a:schemeClr val="tx1"/>
                </a:solidFill>
                <a:effectLst/>
                <a:latin typeface="+mn-lt"/>
                <a:ea typeface="+mn-ea"/>
                <a:cs typeface="+mn-cs"/>
              </a:rPr>
              <a:t>: </a:t>
            </a:r>
            <a:r>
              <a:rPr lang="en-GB" sz="1200" b="0" i="1" kern="1200" dirty="0">
                <a:solidFill>
                  <a:schemeClr val="tx1"/>
                </a:solidFill>
                <a:effectLst/>
                <a:latin typeface="+mn-lt"/>
                <a:ea typeface="+mn-ea"/>
                <a:cs typeface="+mn-cs"/>
              </a:rPr>
              <a:t>Active C-band microwave </a:t>
            </a:r>
            <a:r>
              <a:rPr lang="en-GB" sz="1200" b="0" i="1" kern="1200" dirty="0" err="1">
                <a:solidFill>
                  <a:schemeClr val="tx1"/>
                </a:solidFill>
                <a:effectLst/>
                <a:latin typeface="+mn-lt"/>
                <a:ea typeface="+mn-ea"/>
                <a:cs typeface="+mn-cs"/>
              </a:rPr>
              <a:t>scatterometer</a:t>
            </a:r>
            <a:r>
              <a:rPr lang="en-GB" sz="1200" b="0" i="1" kern="1200" dirty="0">
                <a:solidFill>
                  <a:schemeClr val="tx1"/>
                </a:solidFill>
                <a:effectLst/>
                <a:latin typeface="+mn-lt"/>
                <a:ea typeface="+mn-ea"/>
                <a:cs typeface="+mn-cs"/>
              </a:rPr>
              <a:t> onboard EUMETSAT satellites, providing cloud-penetrating daily surface soil moisture observations.</a:t>
            </a:r>
            <a:endParaRPr lang="en-GB" sz="1200" b="0" i="0" kern="1200" dirty="0">
              <a:solidFill>
                <a:schemeClr val="tx1"/>
              </a:solidFill>
              <a:effectLst/>
              <a:latin typeface="+mn-lt"/>
              <a:ea typeface="+mn-ea"/>
              <a:cs typeface="+mn-cs"/>
            </a:endParaRPr>
          </a:p>
          <a:p>
            <a:pPr lvl="0"/>
            <a:r>
              <a:rPr lang="en-GB" sz="1200" b="1" i="0" kern="1200" dirty="0">
                <a:solidFill>
                  <a:schemeClr val="tx1"/>
                </a:solidFill>
                <a:effectLst/>
                <a:latin typeface="+mn-lt"/>
                <a:ea typeface="+mn-ea"/>
                <a:cs typeface="+mn-cs"/>
              </a:rPr>
              <a:t>Operational Continuity</a:t>
            </a:r>
            <a:r>
              <a:rPr lang="en-GB" sz="1200" b="0" i="0" kern="1200" dirty="0">
                <a:solidFill>
                  <a:schemeClr val="tx1"/>
                </a:solidFill>
                <a:effectLst/>
                <a:latin typeface="+mn-lt"/>
                <a:ea typeface="+mn-ea"/>
                <a:cs typeface="+mn-cs"/>
              </a:rPr>
              <a:t>: The dataset is produced by </a:t>
            </a:r>
            <a:r>
              <a:rPr lang="en-GB" sz="1200" b="1" i="0" kern="1200" dirty="0">
                <a:solidFill>
                  <a:schemeClr val="tx1"/>
                </a:solidFill>
                <a:effectLst/>
                <a:latin typeface="+mn-lt"/>
                <a:ea typeface="+mn-ea"/>
                <a:cs typeface="+mn-cs"/>
              </a:rPr>
              <a:t>Copernicus</a:t>
            </a:r>
            <a:r>
              <a:rPr lang="en-GB" sz="1200" b="0" i="0" kern="1200" dirty="0">
                <a:solidFill>
                  <a:schemeClr val="tx1"/>
                </a:solidFill>
                <a:effectLst/>
                <a:latin typeface="+mn-lt"/>
                <a:ea typeface="+mn-ea"/>
                <a:cs typeface="+mn-cs"/>
              </a:rPr>
              <a:t> (the official Earth Observation program of the European Union).</a:t>
            </a:r>
          </a:p>
          <a:p>
            <a:pPr lvl="0"/>
            <a:r>
              <a:rPr lang="en-GB" sz="1200" b="1" i="0" kern="1200" dirty="0">
                <a:solidFill>
                  <a:schemeClr val="tx1"/>
                </a:solidFill>
                <a:effectLst/>
                <a:latin typeface="+mn-lt"/>
                <a:ea typeface="+mn-ea"/>
                <a:cs typeface="+mn-cs"/>
              </a:rPr>
              <a:t>Near-Real-Time Updates</a:t>
            </a:r>
            <a:r>
              <a:rPr lang="en-GB" sz="1200" b="0" i="0" kern="1200" dirty="0">
                <a:solidFill>
                  <a:schemeClr val="tx1"/>
                </a:solidFill>
                <a:effectLst/>
                <a:latin typeface="+mn-lt"/>
                <a:ea typeface="+mn-ea"/>
                <a:cs typeface="+mn-cs"/>
              </a:rPr>
              <a:t>: It is updated daily using automated, institutional-grade satellite data pipelines.</a:t>
            </a:r>
          </a:p>
          <a:p>
            <a:pPr marL="0" marR="0" lvl="0" indent="0" algn="l" defTabSz="914400" rtl="0" eaLnBrk="1" fontAlgn="auto" latinLnBrk="0" hangingPunct="1">
              <a:lnSpc>
                <a:spcPct val="100000"/>
              </a:lnSpc>
              <a:spcBef>
                <a:spcPts val="0"/>
              </a:spcBef>
              <a:spcAft>
                <a:spcPts val="0"/>
              </a:spcAft>
              <a:buClrTx/>
              <a:buSzTx/>
              <a:buFontTx/>
              <a:buNone/>
              <a:tabLst/>
              <a:defRPr/>
            </a:pPr>
            <a:r>
              <a:rPr lang="en-GB" sz="1200" b="1" i="0" kern="1200" dirty="0">
                <a:solidFill>
                  <a:schemeClr val="tx1"/>
                </a:solidFill>
                <a:effectLst/>
                <a:latin typeface="+mn-lt"/>
                <a:ea typeface="+mn-ea"/>
                <a:cs typeface="+mn-cs"/>
              </a:rPr>
              <a:t>Long-Term Guarantee</a:t>
            </a:r>
            <a:r>
              <a:rPr lang="en-GB" sz="1200" b="0" i="0" kern="1200" dirty="0">
                <a:solidFill>
                  <a:schemeClr val="tx1"/>
                </a:solidFill>
                <a:effectLst/>
                <a:latin typeface="+mn-lt"/>
                <a:ea typeface="+mn-ea"/>
                <a:cs typeface="+mn-cs"/>
              </a:rPr>
              <a:t>: Because it is backed by an international institution (EU/ESA), the data stream will remain active and reliable for future insurance policy years. </a:t>
            </a:r>
            <a:r>
              <a:rPr lang="en-GB" sz="1200" b="1" i="0" kern="1200" dirty="0">
                <a:solidFill>
                  <a:schemeClr val="tx1"/>
                </a:solidFill>
                <a:effectLst/>
                <a:latin typeface="+mn-lt"/>
                <a:ea typeface="+mn-ea"/>
                <a:cs typeface="+mn-cs"/>
              </a:rPr>
              <a:t>What "Ad-Hoc" Means</a:t>
            </a:r>
            <a:r>
              <a:rPr lang="en-GB" sz="1200" b="0" i="0" kern="1200" dirty="0">
                <a:solidFill>
                  <a:schemeClr val="tx1"/>
                </a:solidFill>
                <a:effectLst/>
                <a:latin typeface="+mn-lt"/>
                <a:ea typeface="+mn-ea"/>
                <a:cs typeface="+mn-cs"/>
              </a:rPr>
              <a:t>: "Ad-hoc" refers to custom, improvised, or non-standard calculations (such as an insurer writing their own custom in-house Python model to guess soil moisture from raw rainfall).</a:t>
            </a:r>
          </a:p>
          <a:p>
            <a:pPr lvl="0"/>
            <a:endParaRPr lang="en-GB" sz="1200" b="0" i="0" kern="1200" dirty="0">
              <a:solidFill>
                <a:schemeClr val="tx1"/>
              </a:solidFill>
              <a:effectLst/>
              <a:latin typeface="+mn-lt"/>
              <a:ea typeface="+mn-ea"/>
              <a:cs typeface="+mn-cs"/>
            </a:endParaRPr>
          </a:p>
          <a:p>
            <a:r>
              <a:rPr lang="en-GB" sz="1200" b="0" i="1" kern="1200" dirty="0">
                <a:solidFill>
                  <a:schemeClr val="tx1"/>
                </a:solidFill>
                <a:effectLst/>
                <a:latin typeface="+mn-lt"/>
                <a:ea typeface="+mn-ea"/>
                <a:cs typeface="+mn-cs"/>
              </a:rPr>
              <a:t>Because Copernicus SWI is maintained operationalized by the European Commission, it provides an independent, standardized third-party data source. This eliminates the risk of using custom, in-house reanalysis models that reinsurers could dispute during catastrophe claims</a:t>
            </a:r>
            <a:endParaRPr lang="en-GB" dirty="0"/>
          </a:p>
        </p:txBody>
      </p:sp>
      <p:sp>
        <p:nvSpPr>
          <p:cNvPr id="4" name="Slide Number Placeholder 3"/>
          <p:cNvSpPr>
            <a:spLocks noGrp="1"/>
          </p:cNvSpPr>
          <p:nvPr>
            <p:ph type="sldNum" sz="quarter" idx="5"/>
          </p:nvPr>
        </p:nvSpPr>
        <p:spPr/>
        <p:txBody>
          <a:bodyPr/>
          <a:lstStyle/>
          <a:p>
            <a:fld id="{F5BC383E-D29A-4571-8EFA-3D5D82F6232B}" type="slidenum">
              <a:rPr lang="en-GB" smtClean="0"/>
              <a:t>5</a:t>
            </a:fld>
            <a:endParaRPr lang="en-GB"/>
          </a:p>
        </p:txBody>
      </p:sp>
    </p:spTree>
    <p:extLst>
      <p:ext uri="{BB962C8B-B14F-4D97-AF65-F5344CB8AC3E}">
        <p14:creationId xmlns:p14="http://schemas.microsoft.com/office/powerpoint/2010/main" val="162643494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b="0" i="1" kern="1200" dirty="0">
                <a:solidFill>
                  <a:schemeClr val="tx1"/>
                </a:solidFill>
                <a:effectLst/>
                <a:latin typeface="+mn-lt"/>
                <a:ea typeface="+mn-ea"/>
                <a:cs typeface="+mn-cs"/>
              </a:rPr>
              <a:t>Option 1 used a pure 99th percentile relative threshold, but it suffered from high basis risk triggering in dry years when soil moisture was only 40%.</a:t>
            </a:r>
          </a:p>
          <a:p>
            <a:r>
              <a:rPr lang="en-GB" sz="1200" b="0" i="1" kern="1200" dirty="0">
                <a:solidFill>
                  <a:schemeClr val="tx1"/>
                </a:solidFill>
                <a:effectLst/>
                <a:latin typeface="+mn-lt"/>
                <a:ea typeface="+mn-ea"/>
                <a:cs typeface="+mn-cs"/>
              </a:rPr>
              <a:t>Option 3 used a pure 85% absolute threshold, but it over-triggered in permanently wet coastal zones.</a:t>
            </a:r>
          </a:p>
          <a:p>
            <a:r>
              <a:rPr lang="en-GB" sz="1200" b="0" i="1" kern="1200" dirty="0">
                <a:solidFill>
                  <a:schemeClr val="tx1"/>
                </a:solidFill>
                <a:effectLst/>
                <a:latin typeface="+mn-lt"/>
                <a:ea typeface="+mn-ea"/>
                <a:cs typeface="+mn-cs"/>
              </a:rPr>
              <a:t>Option 2 as our winner: requiring soil moisture to exceed both the district's historical 95th percentile AND an absolute physical floor of 85% SWI.</a:t>
            </a:r>
          </a:p>
          <a:p>
            <a:r>
              <a:rPr lang="en-GB" sz="1200" b="0" i="1" kern="1200" dirty="0">
                <a:solidFill>
                  <a:schemeClr val="tx1"/>
                </a:solidFill>
                <a:effectLst/>
                <a:latin typeface="+mn-lt"/>
                <a:ea typeface="+mn-ea"/>
                <a:cs typeface="+mn-cs"/>
              </a:rPr>
              <a:t>Agronomic literature specifically Kaur et al. (2020) and Ren et al. (2014)proves that when soil saturation reaches 85% for more than 3 to 4 days, root hypoxia occurs, leading to 30 to 50 percent maize yield destruction.</a:t>
            </a:r>
          </a:p>
          <a:p>
            <a:r>
              <a:rPr lang="en-GB" sz="1200" b="1" i="0" kern="1200" dirty="0">
                <a:solidFill>
                  <a:schemeClr val="tx1"/>
                </a:solidFill>
                <a:effectLst/>
                <a:latin typeface="+mn-lt"/>
                <a:ea typeface="+mn-ea"/>
                <a:cs typeface="+mn-cs"/>
              </a:rPr>
              <a:t>Cell Necrosis</a:t>
            </a:r>
            <a:r>
              <a:rPr lang="en-GB" sz="1200" b="0" i="0" kern="1200" dirty="0">
                <a:solidFill>
                  <a:schemeClr val="tx1"/>
                </a:solidFill>
                <a:effectLst/>
                <a:latin typeface="+mn-lt"/>
                <a:ea typeface="+mn-ea"/>
                <a:cs typeface="+mn-cs"/>
              </a:rPr>
              <a:t> means </a:t>
            </a:r>
            <a:r>
              <a:rPr lang="en-GB" sz="1200" b="1" i="0" kern="1200" dirty="0">
                <a:solidFill>
                  <a:schemeClr val="tx1"/>
                </a:solidFill>
                <a:effectLst/>
                <a:latin typeface="+mn-lt"/>
                <a:ea typeface="+mn-ea"/>
                <a:cs typeface="+mn-cs"/>
              </a:rPr>
              <a:t>premature plant cell death</a:t>
            </a:r>
            <a:r>
              <a:rPr lang="en-GB" sz="1200" b="0" i="0" kern="1200" dirty="0">
                <a:solidFill>
                  <a:schemeClr val="tx1"/>
                </a:solidFill>
                <a:effectLst/>
                <a:latin typeface="+mn-lt"/>
                <a:ea typeface="+mn-ea"/>
                <a:cs typeface="+mn-cs"/>
              </a:rPr>
              <a:t>.</a:t>
            </a:r>
          </a:p>
          <a:p>
            <a:r>
              <a:rPr lang="en-GB" sz="1200" b="0" i="0" kern="1200" dirty="0">
                <a:solidFill>
                  <a:schemeClr val="tx1"/>
                </a:solidFill>
                <a:effectLst/>
                <a:latin typeface="+mn-lt"/>
                <a:ea typeface="+mn-ea"/>
                <a:cs typeface="+mn-cs"/>
              </a:rPr>
              <a:t>In agronomy and crop physics, it refers to root tissue cells dying because of oxygen starvation during waterlogging.</a:t>
            </a:r>
          </a:p>
          <a:p>
            <a:br>
              <a:rPr lang="en-GB" dirty="0"/>
            </a:br>
            <a:endParaRPr lang="en-GB" dirty="0"/>
          </a:p>
          <a:p>
            <a:r>
              <a:rPr lang="en-GB" sz="1200" b="0" i="0" kern="1200" dirty="0">
                <a:solidFill>
                  <a:schemeClr val="tx1"/>
                </a:solidFill>
                <a:effectLst/>
                <a:latin typeface="+mn-lt"/>
                <a:ea typeface="+mn-ea"/>
                <a:cs typeface="+mn-cs"/>
              </a:rPr>
              <a:t>🧬 How Waterlogging Causes "Cell Necrosis" in Crops:</a:t>
            </a:r>
          </a:p>
          <a:p>
            <a:pPr lvl="0"/>
            <a:r>
              <a:rPr lang="en-GB" sz="1200" b="1" i="0" kern="1200" dirty="0">
                <a:solidFill>
                  <a:schemeClr val="tx1"/>
                </a:solidFill>
                <a:effectLst/>
                <a:latin typeface="+mn-lt"/>
                <a:ea typeface="+mn-ea"/>
                <a:cs typeface="+mn-cs"/>
              </a:rPr>
              <a:t>Oxygen Deprivation (Anoxia)</a:t>
            </a:r>
            <a:r>
              <a:rPr lang="en-GB" sz="1200" b="0" i="0" kern="1200" dirty="0">
                <a:solidFill>
                  <a:schemeClr val="tx1"/>
                </a:solidFill>
                <a:effectLst/>
                <a:latin typeface="+mn-lt"/>
                <a:ea typeface="+mn-ea"/>
                <a:cs typeface="+mn-cs"/>
              </a:rPr>
              <a:t>: When soil saturation reaches $\</a:t>
            </a:r>
            <a:r>
              <a:rPr lang="en-GB" sz="1200" b="0" i="0" kern="1200" dirty="0" err="1">
                <a:solidFill>
                  <a:schemeClr val="tx1"/>
                </a:solidFill>
                <a:effectLst/>
                <a:latin typeface="+mn-lt"/>
                <a:ea typeface="+mn-ea"/>
                <a:cs typeface="+mn-cs"/>
              </a:rPr>
              <a:t>ge</a:t>
            </a:r>
            <a:r>
              <a:rPr lang="en-GB" sz="1200" b="0" i="0" kern="1200" dirty="0">
                <a:solidFill>
                  <a:schemeClr val="tx1"/>
                </a:solidFill>
                <a:effectLst/>
                <a:latin typeface="+mn-lt"/>
                <a:ea typeface="+mn-ea"/>
                <a:cs typeface="+mn-cs"/>
              </a:rPr>
              <a:t> 85%$ SWI, all air pockets in the soil fill with water. Within 24 to 48 hours, dissolved oxygen in the root zone drops to zero.</a:t>
            </a:r>
          </a:p>
          <a:p>
            <a:pPr lvl="0"/>
            <a:r>
              <a:rPr lang="en-GB" sz="1200" b="1" i="0" kern="1200" dirty="0">
                <a:solidFill>
                  <a:schemeClr val="tx1"/>
                </a:solidFill>
                <a:effectLst/>
                <a:latin typeface="+mn-lt"/>
                <a:ea typeface="+mn-ea"/>
                <a:cs typeface="+mn-cs"/>
              </a:rPr>
              <a:t>Toxic Chemical Accumulation</a:t>
            </a:r>
            <a:r>
              <a:rPr lang="en-GB" sz="1200" b="0" i="0" kern="1200" dirty="0">
                <a:solidFill>
                  <a:schemeClr val="tx1"/>
                </a:solidFill>
                <a:effectLst/>
                <a:latin typeface="+mn-lt"/>
                <a:ea typeface="+mn-ea"/>
                <a:cs typeface="+mn-cs"/>
              </a:rPr>
              <a:t>: Without oxygen, root cells cannot perform normal respiration. The plant starts anaerobic fermentation, building up toxic compounds like </a:t>
            </a:r>
            <a:r>
              <a:rPr lang="en-GB" sz="1200" b="1" i="0" kern="1200" dirty="0">
                <a:solidFill>
                  <a:schemeClr val="tx1"/>
                </a:solidFill>
                <a:effectLst/>
                <a:latin typeface="+mn-lt"/>
                <a:ea typeface="+mn-ea"/>
                <a:cs typeface="+mn-cs"/>
              </a:rPr>
              <a:t>ethylene</a:t>
            </a:r>
            <a:r>
              <a:rPr lang="en-GB" sz="1200" b="0" i="0" kern="1200" dirty="0">
                <a:solidFill>
                  <a:schemeClr val="tx1"/>
                </a:solidFill>
                <a:effectLst/>
                <a:latin typeface="+mn-lt"/>
                <a:ea typeface="+mn-ea"/>
                <a:cs typeface="+mn-cs"/>
              </a:rPr>
              <a:t> and </a:t>
            </a:r>
            <a:r>
              <a:rPr lang="en-GB" sz="1200" b="1" i="0" kern="1200" dirty="0">
                <a:solidFill>
                  <a:schemeClr val="tx1"/>
                </a:solidFill>
                <a:effectLst/>
                <a:latin typeface="+mn-lt"/>
                <a:ea typeface="+mn-ea"/>
                <a:cs typeface="+mn-cs"/>
              </a:rPr>
              <a:t>ethanol</a:t>
            </a:r>
            <a:r>
              <a:rPr lang="en-GB" sz="1200" b="0" i="0" kern="1200" dirty="0">
                <a:solidFill>
                  <a:schemeClr val="tx1"/>
                </a:solidFill>
                <a:effectLst/>
                <a:latin typeface="+mn-lt"/>
                <a:ea typeface="+mn-ea"/>
                <a:cs typeface="+mn-cs"/>
              </a:rPr>
              <a:t>.</a:t>
            </a:r>
          </a:p>
          <a:p>
            <a:pPr lvl="0"/>
            <a:r>
              <a:rPr lang="en-GB" sz="1200" b="1" i="0" kern="1200" dirty="0">
                <a:solidFill>
                  <a:schemeClr val="tx1"/>
                </a:solidFill>
                <a:effectLst/>
                <a:latin typeface="+mn-lt"/>
                <a:ea typeface="+mn-ea"/>
                <a:cs typeface="+mn-cs"/>
              </a:rPr>
              <a:t>Cell Death (Necrosis)</a:t>
            </a:r>
            <a:r>
              <a:rPr lang="en-GB" sz="1200" b="0" i="0" kern="1200" dirty="0">
                <a:solidFill>
                  <a:schemeClr val="tx1"/>
                </a:solidFill>
                <a:effectLst/>
                <a:latin typeface="+mn-lt"/>
                <a:ea typeface="+mn-ea"/>
                <a:cs typeface="+mn-cs"/>
              </a:rPr>
              <a:t>: By </a:t>
            </a:r>
            <a:r>
              <a:rPr lang="en-GB" sz="1200" b="1" i="0" kern="1200" dirty="0">
                <a:solidFill>
                  <a:schemeClr val="tx1"/>
                </a:solidFill>
                <a:effectLst/>
                <a:latin typeface="+mn-lt"/>
                <a:ea typeface="+mn-ea"/>
                <a:cs typeface="+mn-cs"/>
              </a:rPr>
              <a:t>Day 3 to 4</a:t>
            </a:r>
            <a:r>
              <a:rPr lang="en-GB" sz="1200" b="0" i="0" kern="1200" dirty="0">
                <a:solidFill>
                  <a:schemeClr val="tx1"/>
                </a:solidFill>
                <a:effectLst/>
                <a:latin typeface="+mn-lt"/>
                <a:ea typeface="+mn-ea"/>
                <a:cs typeface="+mn-cs"/>
              </a:rPr>
              <a:t> of continuous soil saturation, the cells in the growing root tips collapse and die (</a:t>
            </a:r>
            <a:r>
              <a:rPr lang="en-GB" sz="1200" b="1" i="0" kern="1200" dirty="0">
                <a:solidFill>
                  <a:schemeClr val="tx1"/>
                </a:solidFill>
                <a:effectLst/>
                <a:latin typeface="+mn-lt"/>
                <a:ea typeface="+mn-ea"/>
                <a:cs typeface="+mn-cs"/>
              </a:rPr>
              <a:t>cell necrosis</a:t>
            </a:r>
            <a:r>
              <a:rPr lang="en-GB" sz="1200" b="0" i="0" kern="1200" dirty="0">
                <a:solidFill>
                  <a:schemeClr val="tx1"/>
                </a:solidFill>
                <a:effectLst/>
                <a:latin typeface="+mn-lt"/>
                <a:ea typeface="+mn-ea"/>
                <a:cs typeface="+mn-cs"/>
              </a:rPr>
              <a:t>), causing root rot.</a:t>
            </a:r>
          </a:p>
          <a:p>
            <a:pPr lvl="0"/>
            <a:r>
              <a:rPr lang="en-GB" sz="1200" b="1" i="0" kern="1200" dirty="0">
                <a:solidFill>
                  <a:schemeClr val="tx1"/>
                </a:solidFill>
                <a:effectLst/>
                <a:latin typeface="+mn-lt"/>
                <a:ea typeface="+mn-ea"/>
                <a:cs typeface="+mn-cs"/>
              </a:rPr>
              <a:t>Permanent Yield Damage</a:t>
            </a:r>
            <a:r>
              <a:rPr lang="en-GB" sz="1200" b="0" i="0" kern="1200" dirty="0">
                <a:solidFill>
                  <a:schemeClr val="tx1"/>
                </a:solidFill>
                <a:effectLst/>
                <a:latin typeface="+mn-lt"/>
                <a:ea typeface="+mn-ea"/>
                <a:cs typeface="+mn-cs"/>
              </a:rPr>
              <a:t>: Even after the floodwater recedes, the damaged root system cannot recover or absorb nutrients, resulting in an irreversible </a:t>
            </a:r>
            <a:r>
              <a:rPr lang="en-GB" sz="1200" b="1" i="0" kern="1200" dirty="0">
                <a:solidFill>
                  <a:schemeClr val="tx1"/>
                </a:solidFill>
                <a:effectLst/>
                <a:latin typeface="+mn-lt"/>
                <a:ea typeface="+mn-ea"/>
                <a:cs typeface="+mn-cs"/>
              </a:rPr>
              <a:t>30% to 50% loss in maize yield</a:t>
            </a:r>
            <a:r>
              <a:rPr lang="en-GB" sz="1200" b="0" i="0" kern="1200" dirty="0">
                <a:solidFill>
                  <a:schemeClr val="tx1"/>
                </a:solidFill>
                <a:effectLst/>
                <a:latin typeface="+mn-lt"/>
                <a:ea typeface="+mn-ea"/>
                <a:cs typeface="+mn-cs"/>
              </a:rPr>
              <a:t> (Kaur et al., 2020; Ren et al., 2014).</a:t>
            </a:r>
          </a:p>
          <a:p>
            <a:endParaRPr lang="en-GB" dirty="0"/>
          </a:p>
        </p:txBody>
      </p:sp>
      <p:sp>
        <p:nvSpPr>
          <p:cNvPr id="4" name="Slide Number Placeholder 3"/>
          <p:cNvSpPr>
            <a:spLocks noGrp="1"/>
          </p:cNvSpPr>
          <p:nvPr>
            <p:ph type="sldNum" sz="quarter" idx="5"/>
          </p:nvPr>
        </p:nvSpPr>
        <p:spPr/>
        <p:txBody>
          <a:bodyPr/>
          <a:lstStyle/>
          <a:p>
            <a:fld id="{F5BC383E-D29A-4571-8EFA-3D5D82F6232B}" type="slidenum">
              <a:rPr lang="en-GB" smtClean="0"/>
              <a:t>6</a:t>
            </a:fld>
            <a:endParaRPr lang="en-GB"/>
          </a:p>
        </p:txBody>
      </p:sp>
    </p:spTree>
    <p:extLst>
      <p:ext uri="{BB962C8B-B14F-4D97-AF65-F5344CB8AC3E}">
        <p14:creationId xmlns:p14="http://schemas.microsoft.com/office/powerpoint/2010/main" val="386096230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B1ACF1-2044-E249-E592-C13B086F811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2DAFE85-784A-6EFE-6745-4B715D5E4A3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CC69974-93D7-0909-A024-A97375909180}"/>
              </a:ext>
            </a:extLst>
          </p:cNvPr>
          <p:cNvSpPr>
            <a:spLocks noGrp="1"/>
          </p:cNvSpPr>
          <p:nvPr>
            <p:ph type="body" idx="1"/>
          </p:nvPr>
        </p:nvSpPr>
        <p:spPr/>
        <p:txBody>
          <a:bodyPr/>
          <a:lstStyle/>
          <a:p>
            <a:r>
              <a:rPr lang="en-GB" sz="1200" b="0" i="1" kern="1200" dirty="0">
                <a:solidFill>
                  <a:schemeClr val="tx1"/>
                </a:solidFill>
                <a:effectLst/>
                <a:latin typeface="+mn-lt"/>
                <a:ea typeface="+mn-ea"/>
                <a:cs typeface="+mn-cs"/>
              </a:rPr>
              <a:t>Our most critical empirical finding came when calibrating the continuous streak duration. Legacy flood models relied on 7 consecutive days of saturation. However, when we audited historical disaster archives, we discovered that 7-day rules failed to trigger during verified, catastrophic agricultural floods in semi-arid regions such as the 2024 Senegal River floods or the 2022 KwaZulu-Natal floods in South Africa because the severe inundation lasted 5 or 6 days. By re-calibrating to a 5-day continuous streak basis, we captured +4,849 additional flood days across Africa—an 8.27% increase and captured +903 discrete disaster events.</a:t>
            </a:r>
          </a:p>
          <a:p>
            <a:r>
              <a:rPr lang="en-GB" sz="1200" b="0" i="1" kern="1200" dirty="0">
                <a:solidFill>
                  <a:schemeClr val="tx1"/>
                </a:solidFill>
                <a:effectLst/>
                <a:latin typeface="+mn-lt"/>
                <a:ea typeface="+mn-ea"/>
                <a:cs typeface="+mn-cs"/>
              </a:rPr>
              <a:t>Crucially, mean annual frequency only shifted from 2.15 to 2.31 days per year, proving that 5-day rules capture true disaster events without inflating baseline payouts.</a:t>
            </a:r>
          </a:p>
          <a:p>
            <a:endParaRPr lang="en-GB" sz="1200" b="0" i="1" kern="1200" dirty="0">
              <a:solidFill>
                <a:schemeClr val="tx1"/>
              </a:solidFill>
              <a:effectLst/>
              <a:latin typeface="+mn-lt"/>
              <a:ea typeface="+mn-ea"/>
              <a:cs typeface="+mn-cs"/>
            </a:endParaRPr>
          </a:p>
          <a:p>
            <a:endParaRPr lang="en-GB" dirty="0"/>
          </a:p>
        </p:txBody>
      </p:sp>
      <p:sp>
        <p:nvSpPr>
          <p:cNvPr id="4" name="Slide Number Placeholder 3">
            <a:extLst>
              <a:ext uri="{FF2B5EF4-FFF2-40B4-BE49-F238E27FC236}">
                <a16:creationId xmlns:a16="http://schemas.microsoft.com/office/drawing/2014/main" id="{287B9DCF-5DA8-53FE-AAE0-19AE9DA68C1D}"/>
              </a:ext>
            </a:extLst>
          </p:cNvPr>
          <p:cNvSpPr>
            <a:spLocks noGrp="1"/>
          </p:cNvSpPr>
          <p:nvPr>
            <p:ph type="sldNum" sz="quarter" idx="5"/>
          </p:nvPr>
        </p:nvSpPr>
        <p:spPr/>
        <p:txBody>
          <a:bodyPr/>
          <a:lstStyle/>
          <a:p>
            <a:fld id="{F5BC383E-D29A-4571-8EFA-3D5D82F6232B}" type="slidenum">
              <a:rPr lang="en-GB" smtClean="0"/>
              <a:t>7</a:t>
            </a:fld>
            <a:endParaRPr lang="en-GB"/>
          </a:p>
        </p:txBody>
      </p:sp>
    </p:spTree>
    <p:extLst>
      <p:ext uri="{BB962C8B-B14F-4D97-AF65-F5344CB8AC3E}">
        <p14:creationId xmlns:p14="http://schemas.microsoft.com/office/powerpoint/2010/main" val="107127124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7ADC15-6F87-045C-C295-E2C38E6514D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8816FC0-D28F-2E4E-3307-97D8EAB0939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8C1C353-29CE-74C4-C0DE-DDED276F7CBE}"/>
              </a:ext>
            </a:extLst>
          </p:cNvPr>
          <p:cNvSpPr>
            <a:spLocks noGrp="1"/>
          </p:cNvSpPr>
          <p:nvPr>
            <p:ph type="body" idx="1"/>
          </p:nvPr>
        </p:nvSpPr>
        <p:spPr/>
        <p:txBody>
          <a:bodyPr/>
          <a:lstStyle/>
          <a:p>
            <a:r>
              <a:rPr lang="en-GB" sz="1200" b="0" i="1" kern="1200" dirty="0">
                <a:solidFill>
                  <a:schemeClr val="tx1"/>
                </a:solidFill>
                <a:effectLst/>
                <a:latin typeface="+mn-lt"/>
                <a:ea typeface="+mn-ea"/>
                <a:cs typeface="+mn-cs"/>
              </a:rPr>
              <a:t>To prove our 5-day model introduces zero false positives, we cross-verified every single triggered district-year against official ground-truth reports from UN </a:t>
            </a:r>
            <a:r>
              <a:rPr lang="en-GB" sz="1200" b="0" i="1" kern="1200" dirty="0" err="1">
                <a:solidFill>
                  <a:schemeClr val="tx1"/>
                </a:solidFill>
                <a:effectLst/>
                <a:latin typeface="+mn-lt"/>
                <a:ea typeface="+mn-ea"/>
                <a:cs typeface="+mn-cs"/>
              </a:rPr>
              <a:t>ReliefWeb</a:t>
            </a:r>
            <a:r>
              <a:rPr lang="en-GB" sz="1200" b="0" i="1" kern="1200" dirty="0">
                <a:solidFill>
                  <a:schemeClr val="tx1"/>
                </a:solidFill>
                <a:effectLst/>
                <a:latin typeface="+mn-lt"/>
                <a:ea typeface="+mn-ea"/>
                <a:cs typeface="+mn-cs"/>
              </a:rPr>
              <a:t>, World Bank Post-Disaster Needs Assessments, and FEWS NET. On this slide, you see our validation spaghetti plot for Kenya. Notice how background districts remain flat near zero, but during major historical disaster years like the 2018 and 2020 East Africa floods our Option 2 model spikes and places star markers precisely on affected districts like Garissa and </a:t>
            </a:r>
            <a:r>
              <a:rPr lang="en-GB" sz="1200" b="0" i="1" kern="1200" dirty="0" err="1">
                <a:solidFill>
                  <a:schemeClr val="tx1"/>
                </a:solidFill>
                <a:effectLst/>
                <a:latin typeface="+mn-lt"/>
                <a:ea typeface="+mn-ea"/>
                <a:cs typeface="+mn-cs"/>
              </a:rPr>
              <a:t>Budalangi</a:t>
            </a:r>
            <a:r>
              <a:rPr lang="en-GB" sz="1200" b="0" i="1" kern="1200" dirty="0">
                <a:solidFill>
                  <a:schemeClr val="tx1"/>
                </a:solidFill>
                <a:effectLst/>
                <a:latin typeface="+mn-lt"/>
                <a:ea typeface="+mn-ea"/>
                <a:cs typeface="+mn-cs"/>
              </a:rPr>
              <a:t>. The same 100% validation rate was confirmed for Cyclone Idai and Freddy in Malawi, and the 2012 and 2022 mega-floods in Nigeria.</a:t>
            </a:r>
            <a:endParaRPr lang="en-GB" sz="1200" b="0" i="0" kern="1200" dirty="0">
              <a:solidFill>
                <a:schemeClr val="tx1"/>
              </a:solidFill>
              <a:effectLst/>
              <a:latin typeface="+mn-lt"/>
              <a:ea typeface="+mn-ea"/>
              <a:cs typeface="+mn-cs"/>
            </a:endParaRPr>
          </a:p>
        </p:txBody>
      </p:sp>
      <p:sp>
        <p:nvSpPr>
          <p:cNvPr id="4" name="Slide Number Placeholder 3">
            <a:extLst>
              <a:ext uri="{FF2B5EF4-FFF2-40B4-BE49-F238E27FC236}">
                <a16:creationId xmlns:a16="http://schemas.microsoft.com/office/drawing/2014/main" id="{A0EB9EBC-C2BD-A76F-91CD-17142A6BED87}"/>
              </a:ext>
            </a:extLst>
          </p:cNvPr>
          <p:cNvSpPr>
            <a:spLocks noGrp="1"/>
          </p:cNvSpPr>
          <p:nvPr>
            <p:ph type="sldNum" sz="quarter" idx="5"/>
          </p:nvPr>
        </p:nvSpPr>
        <p:spPr/>
        <p:txBody>
          <a:bodyPr/>
          <a:lstStyle/>
          <a:p>
            <a:fld id="{F5BC383E-D29A-4571-8EFA-3D5D82F6232B}" type="slidenum">
              <a:rPr lang="en-GB" smtClean="0"/>
              <a:t>8</a:t>
            </a:fld>
            <a:endParaRPr lang="en-GB"/>
          </a:p>
        </p:txBody>
      </p:sp>
    </p:spTree>
    <p:extLst>
      <p:ext uri="{BB962C8B-B14F-4D97-AF65-F5344CB8AC3E}">
        <p14:creationId xmlns:p14="http://schemas.microsoft.com/office/powerpoint/2010/main" val="178190729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b="0" i="1" kern="1200" dirty="0">
                <a:solidFill>
                  <a:schemeClr val="tx1"/>
                </a:solidFill>
                <a:effectLst/>
                <a:latin typeface="+mn-lt"/>
                <a:ea typeface="+mn-ea"/>
                <a:cs typeface="+mn-cs"/>
              </a:rPr>
              <a:t>Insuring 1,638 individual districts independently is inefficient for underwriting. We need to group contiguous districts into homogeneous Risk Zones. To do this, we implemented Ward's Minimum-Variance Agglomerative Hierarchical Clustering. We constructed a combined distance matrix that blends physical geographic distance with historical weather co-occurrence dissimilarity using Jaccard distance. Ward's method merges districts by minimizing internal variance, creating compact, connected risk territories that respect natural topography and river basins.</a:t>
            </a:r>
            <a:endParaRPr lang="en-GB" sz="1200" b="0" i="0" kern="1200" dirty="0">
              <a:solidFill>
                <a:schemeClr val="tx1"/>
              </a:solidFill>
              <a:effectLst/>
              <a:latin typeface="+mn-lt"/>
              <a:ea typeface="+mn-ea"/>
              <a:cs typeface="+mn-cs"/>
            </a:endParaRPr>
          </a:p>
        </p:txBody>
      </p:sp>
      <p:sp>
        <p:nvSpPr>
          <p:cNvPr id="4" name="Slide Number Placeholder 3"/>
          <p:cNvSpPr>
            <a:spLocks noGrp="1"/>
          </p:cNvSpPr>
          <p:nvPr>
            <p:ph type="sldNum" sz="quarter" idx="5"/>
          </p:nvPr>
        </p:nvSpPr>
        <p:spPr/>
        <p:txBody>
          <a:bodyPr/>
          <a:lstStyle/>
          <a:p>
            <a:fld id="{F5BC383E-D29A-4571-8EFA-3D5D82F6232B}" type="slidenum">
              <a:rPr lang="en-GB" smtClean="0"/>
              <a:t>9</a:t>
            </a:fld>
            <a:endParaRPr lang="en-GB"/>
          </a:p>
        </p:txBody>
      </p:sp>
    </p:spTree>
    <p:extLst>
      <p:ext uri="{BB962C8B-B14F-4D97-AF65-F5344CB8AC3E}">
        <p14:creationId xmlns:p14="http://schemas.microsoft.com/office/powerpoint/2010/main" val="369191694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b="0" i="1" kern="1200" dirty="0">
                <a:solidFill>
                  <a:schemeClr val="tx1"/>
                </a:solidFill>
                <a:effectLst/>
                <a:latin typeface="+mn-lt"/>
                <a:ea typeface="+mn-ea"/>
                <a:cs typeface="+mn-cs"/>
              </a:rPr>
              <a:t> tested multiple weighting schemes across cluster counts from K=2 to K=15, evaluating each with the Silhouette Score. On this slide, you see the comparison between our two leading models. On the left is the 60% Geography / 40% Weather model, which optimizes naturally at K=6 clusters with a Silhouette score of 0.4731. On the right is the 70% Geography / 30% Weather model, which optimizes at K=10 clusters with a higher Silhouette score of 0.4886. While K=6 creates massive macro-belts, K=10 provides tighter regional granularity aligned with major river basins.</a:t>
            </a:r>
          </a:p>
          <a:p>
            <a:endParaRPr lang="en-GB" sz="1200" b="0" i="1" kern="1200" dirty="0">
              <a:solidFill>
                <a:schemeClr val="tx1"/>
              </a:solidFill>
              <a:effectLst/>
              <a:latin typeface="+mn-lt"/>
              <a:ea typeface="+mn-ea"/>
              <a:cs typeface="+mn-cs"/>
            </a:endParaRPr>
          </a:p>
          <a:p>
            <a:pPr lvl="0"/>
            <a:r>
              <a:rPr lang="en-GB" sz="1200" b="1" i="0" kern="1200" dirty="0">
                <a:solidFill>
                  <a:schemeClr val="tx1"/>
                </a:solidFill>
                <a:effectLst/>
                <a:latin typeface="+mn-lt"/>
                <a:ea typeface="+mn-ea"/>
                <a:cs typeface="+mn-cs"/>
              </a:rPr>
              <a:t>Why 70/30 ($K=10$) is Recommended for Reinsurance Underwriting</a:t>
            </a:r>
            <a:r>
              <a:rPr lang="en-GB" sz="1200" b="0" i="0" kern="1200" dirty="0">
                <a:solidFill>
                  <a:schemeClr val="tx1"/>
                </a:solidFill>
                <a:effectLst/>
                <a:latin typeface="+mn-lt"/>
                <a:ea typeface="+mn-ea"/>
                <a:cs typeface="+mn-cs"/>
              </a:rPr>
              <a:t>:</a:t>
            </a:r>
          </a:p>
          <a:p>
            <a:pPr lvl="1"/>
            <a:r>
              <a:rPr lang="en-GB" sz="1200" b="1" i="0" kern="1200" dirty="0">
                <a:solidFill>
                  <a:schemeClr val="tx1"/>
                </a:solidFill>
                <a:effectLst/>
                <a:latin typeface="+mn-lt"/>
                <a:ea typeface="+mn-ea"/>
                <a:cs typeface="+mn-cs"/>
              </a:rPr>
              <a:t>Higher Statistical Cohesion</a:t>
            </a:r>
            <a:r>
              <a:rPr lang="en-GB" sz="1200" b="0" i="0" kern="1200" dirty="0">
                <a:solidFill>
                  <a:schemeClr val="tx1"/>
                </a:solidFill>
                <a:effectLst/>
                <a:latin typeface="+mn-lt"/>
                <a:ea typeface="+mn-ea"/>
                <a:cs typeface="+mn-cs"/>
              </a:rPr>
              <a:t>: Achieves the highest Silhouette Score (0.4886), indicating superior internal cluster tightness.</a:t>
            </a:r>
          </a:p>
          <a:p>
            <a:pPr lvl="1"/>
            <a:r>
              <a:rPr lang="en-GB" sz="1200" b="1" i="0" kern="1200" dirty="0">
                <a:solidFill>
                  <a:schemeClr val="tx1"/>
                </a:solidFill>
                <a:effectLst/>
                <a:latin typeface="+mn-lt"/>
                <a:ea typeface="+mn-ea"/>
                <a:cs typeface="+mn-cs"/>
              </a:rPr>
              <a:t>Alignment with Physical Basins</a:t>
            </a:r>
            <a:r>
              <a:rPr lang="en-GB" sz="1200" b="0" i="0" kern="1200" dirty="0">
                <a:solidFill>
                  <a:schemeClr val="tx1"/>
                </a:solidFill>
                <a:effectLst/>
                <a:latin typeface="+mn-lt"/>
                <a:ea typeface="+mn-ea"/>
                <a:cs typeface="+mn-cs"/>
              </a:rPr>
              <a:t>: 10 zones perfectly capture major African </a:t>
            </a:r>
            <a:r>
              <a:rPr lang="en-GB" sz="1200" b="0" i="0" kern="1200" dirty="0" err="1">
                <a:solidFill>
                  <a:schemeClr val="tx1"/>
                </a:solidFill>
                <a:effectLst/>
                <a:latin typeface="+mn-lt"/>
                <a:ea typeface="+mn-ea"/>
                <a:cs typeface="+mn-cs"/>
              </a:rPr>
              <a:t>agro</a:t>
            </a:r>
            <a:r>
              <a:rPr lang="en-GB" sz="1200" b="0" i="0" kern="1200" dirty="0">
                <a:solidFill>
                  <a:schemeClr val="tx1"/>
                </a:solidFill>
                <a:effectLst/>
                <a:latin typeface="+mn-lt"/>
                <a:ea typeface="+mn-ea"/>
                <a:cs typeface="+mn-cs"/>
              </a:rPr>
              <a:t>-ecological and river basin boundaries (Niger Basin, Nile Sudd, Rift Valley lakes, Limpopo/Zambezi, Coastal West Africa).</a:t>
            </a:r>
          </a:p>
          <a:p>
            <a:pPr lvl="1"/>
            <a:r>
              <a:rPr lang="en-GB" sz="1200" b="1" i="0" kern="1200" dirty="0">
                <a:solidFill>
                  <a:schemeClr val="tx1"/>
                </a:solidFill>
                <a:effectLst/>
                <a:latin typeface="+mn-lt"/>
                <a:ea typeface="+mn-ea"/>
                <a:cs typeface="+mn-cs"/>
              </a:rPr>
              <a:t>Optimal Portfolio Sizing</a:t>
            </a:r>
            <a:r>
              <a:rPr lang="en-GB" sz="1200" b="0" i="0" kern="1200" dirty="0">
                <a:solidFill>
                  <a:schemeClr val="tx1"/>
                </a:solidFill>
                <a:effectLst/>
                <a:latin typeface="+mn-lt"/>
                <a:ea typeface="+mn-ea"/>
                <a:cs typeface="+mn-cs"/>
              </a:rPr>
              <a:t>: Avoids over-aggregation (where single claims span half the continent) while preventing micro-fragmentation.</a:t>
            </a:r>
          </a:p>
          <a:p>
            <a:pPr lvl="1"/>
            <a:r>
              <a:rPr lang="en-GB" sz="1200" b="1" i="0" kern="1200" dirty="0">
                <a:solidFill>
                  <a:schemeClr val="tx1"/>
                </a:solidFill>
                <a:effectLst/>
                <a:latin typeface="+mn-lt"/>
                <a:ea typeface="+mn-ea"/>
                <a:cs typeface="+mn-cs"/>
              </a:rPr>
              <a:t>Strict Spatial Contiguity</a:t>
            </a:r>
            <a:r>
              <a:rPr lang="en-GB" sz="1200" b="0" i="0" kern="1200" dirty="0">
                <a:solidFill>
                  <a:schemeClr val="tx1"/>
                </a:solidFill>
                <a:effectLst/>
                <a:latin typeface="+mn-lt"/>
                <a:ea typeface="+mn-ea"/>
                <a:cs typeface="+mn-cs"/>
              </a:rPr>
              <a:t>: 70% geographic weighting guarantees zero fragmented "island" districts.</a:t>
            </a:r>
          </a:p>
          <a:p>
            <a:r>
              <a:rPr lang="en-GB" sz="1200" b="0" i="1" kern="1200" dirty="0">
                <a:solidFill>
                  <a:schemeClr val="tx1"/>
                </a:solidFill>
                <a:effectLst/>
                <a:latin typeface="+mn-lt"/>
                <a:ea typeface="+mn-ea"/>
                <a:cs typeface="+mn-cs"/>
              </a:rPr>
              <a:t>First, it delivers the highest Silhouette score of 0.4886, meaning districts within each zone behave far more uniformly than in the 60/40 model. Second, 10 zones align precisely with Africa's major hydrological basins—such as the Zambezi, Niger, and Nile Sudd basins. Third, it gives underwriters manageable risk pools where capital reserves can be priced accurately per zone without creating fragmented island clusters."</a:t>
            </a:r>
          </a:p>
        </p:txBody>
      </p:sp>
      <p:sp>
        <p:nvSpPr>
          <p:cNvPr id="4" name="Slide Number Placeholder 3"/>
          <p:cNvSpPr>
            <a:spLocks noGrp="1"/>
          </p:cNvSpPr>
          <p:nvPr>
            <p:ph type="sldNum" sz="quarter" idx="5"/>
          </p:nvPr>
        </p:nvSpPr>
        <p:spPr/>
        <p:txBody>
          <a:bodyPr/>
          <a:lstStyle/>
          <a:p>
            <a:fld id="{F5BC383E-D29A-4571-8EFA-3D5D82F6232B}" type="slidenum">
              <a:rPr lang="en-GB" smtClean="0"/>
              <a:t>10</a:t>
            </a:fld>
            <a:endParaRPr lang="en-GB"/>
          </a:p>
        </p:txBody>
      </p:sp>
    </p:spTree>
    <p:extLst>
      <p:ext uri="{BB962C8B-B14F-4D97-AF65-F5344CB8AC3E}">
        <p14:creationId xmlns:p14="http://schemas.microsoft.com/office/powerpoint/2010/main" val="38902370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b="0" i="1" kern="1200" dirty="0">
                <a:solidFill>
                  <a:schemeClr val="tx1"/>
                </a:solidFill>
                <a:effectLst/>
                <a:latin typeface="+mn-lt"/>
                <a:ea typeface="+mn-ea"/>
                <a:cs typeface="+mn-cs"/>
              </a:rPr>
              <a:t>study is grounded in peer-reviewed scientific literature. Our soil water index infiltration physics follows </a:t>
            </a:r>
            <a:r>
              <a:rPr lang="en-GB" sz="1200" b="0" i="1" kern="1200" dirty="0" err="1">
                <a:solidFill>
                  <a:schemeClr val="tx1"/>
                </a:solidFill>
                <a:effectLst/>
                <a:latin typeface="+mn-lt"/>
                <a:ea typeface="+mn-ea"/>
                <a:cs typeface="+mn-cs"/>
              </a:rPr>
              <a:t>Albergel</a:t>
            </a:r>
            <a:r>
              <a:rPr lang="en-GB" sz="1200" b="0" i="1" kern="1200" dirty="0">
                <a:solidFill>
                  <a:schemeClr val="tx1"/>
                </a:solidFill>
                <a:effectLst/>
                <a:latin typeface="+mn-lt"/>
                <a:ea typeface="+mn-ea"/>
                <a:cs typeface="+mn-cs"/>
              </a:rPr>
              <a:t> et al. (2008); our agronomic 5-day waterlogging threshold is defended by Kaur et al. (2020), Ren et al. (2014), and Zhang et al. (2023); our spatial regionalization logic strictly implements Ward (1963) and Murtagh &amp; Legendre (2014); and our portfolio diversification framework follows </a:t>
            </a:r>
            <a:r>
              <a:rPr lang="en-GB" sz="1200" b="0" i="1" kern="1200" dirty="0" err="1">
                <a:solidFill>
                  <a:schemeClr val="tx1"/>
                </a:solidFill>
                <a:effectLst/>
                <a:latin typeface="+mn-lt"/>
                <a:ea typeface="+mn-ea"/>
                <a:cs typeface="+mn-cs"/>
              </a:rPr>
              <a:t>Carrão</a:t>
            </a:r>
            <a:r>
              <a:rPr lang="en-GB" sz="1200" b="0" i="1" kern="1200" dirty="0">
                <a:solidFill>
                  <a:schemeClr val="tx1"/>
                </a:solidFill>
                <a:effectLst/>
                <a:latin typeface="+mn-lt"/>
                <a:ea typeface="+mn-ea"/>
                <a:cs typeface="+mn-cs"/>
              </a:rPr>
              <a:t> et al. (2016). Thank you for your time, and I am happy to open the floor to questions and demonstrate our live interactive dashboards.</a:t>
            </a:r>
            <a:endParaRPr lang="en-GB" dirty="0"/>
          </a:p>
        </p:txBody>
      </p:sp>
      <p:sp>
        <p:nvSpPr>
          <p:cNvPr id="4" name="Slide Number Placeholder 3"/>
          <p:cNvSpPr>
            <a:spLocks noGrp="1"/>
          </p:cNvSpPr>
          <p:nvPr>
            <p:ph type="sldNum" sz="quarter" idx="5"/>
          </p:nvPr>
        </p:nvSpPr>
        <p:spPr/>
        <p:txBody>
          <a:bodyPr/>
          <a:lstStyle/>
          <a:p>
            <a:fld id="{F5BC383E-D29A-4571-8EFA-3D5D82F6232B}" type="slidenum">
              <a:rPr lang="en-GB" smtClean="0"/>
              <a:t>11</a:t>
            </a:fld>
            <a:endParaRPr lang="en-GB"/>
          </a:p>
        </p:txBody>
      </p:sp>
    </p:spTree>
    <p:extLst>
      <p:ext uri="{BB962C8B-B14F-4D97-AF65-F5344CB8AC3E}">
        <p14:creationId xmlns:p14="http://schemas.microsoft.com/office/powerpoint/2010/main" val="207911356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8C37F7-3B0C-B12E-93A7-20DA2DC70F3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2995A8A-5C18-4B65-07B6-D1094B53639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6C7F0F3-FBA8-D24B-6DCF-BE91D8FCC38E}"/>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D4720AEC-7CB2-CA8C-18C4-E2C3A4C62DC8}"/>
              </a:ext>
            </a:extLst>
          </p:cNvPr>
          <p:cNvSpPr>
            <a:spLocks noGrp="1"/>
          </p:cNvSpPr>
          <p:nvPr>
            <p:ph type="sldNum" sz="quarter" idx="5"/>
          </p:nvPr>
        </p:nvSpPr>
        <p:spPr/>
        <p:txBody>
          <a:bodyPr/>
          <a:lstStyle/>
          <a:p>
            <a:fld id="{F5BC383E-D29A-4571-8EFA-3D5D82F6232B}" type="slidenum">
              <a:rPr lang="en-GB" smtClean="0"/>
              <a:t>12</a:t>
            </a:fld>
            <a:endParaRPr lang="en-GB"/>
          </a:p>
        </p:txBody>
      </p:sp>
    </p:spTree>
    <p:extLst>
      <p:ext uri="{BB962C8B-B14F-4D97-AF65-F5344CB8AC3E}">
        <p14:creationId xmlns:p14="http://schemas.microsoft.com/office/powerpoint/2010/main" val="338710678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3" name="Title Placeholder 1">
            <a:extLst>
              <a:ext uri="{FF2B5EF4-FFF2-40B4-BE49-F238E27FC236}">
                <a16:creationId xmlns:a16="http://schemas.microsoft.com/office/drawing/2014/main" id="{60E460F3-D490-E429-2393-15281F9C687E}"/>
              </a:ext>
            </a:extLst>
          </p:cNvPr>
          <p:cNvSpPr>
            <a:spLocks noGrp="1"/>
          </p:cNvSpPr>
          <p:nvPr>
            <p:ph type="title"/>
          </p:nvPr>
        </p:nvSpPr>
        <p:spPr>
          <a:xfrm>
            <a:off x="6182690" y="3060088"/>
            <a:ext cx="5721140" cy="1325563"/>
          </a:xfrm>
          <a:prstGeom prst="rect">
            <a:avLst/>
          </a:prstGeom>
        </p:spPr>
        <p:txBody>
          <a:bodyPr vert="horz" lIns="91440" tIns="45720" rIns="91440" bIns="45720" rtlCol="0" anchor="ctr">
            <a:noAutofit/>
          </a:bodyPr>
          <a:lstStyle/>
          <a:p>
            <a:r>
              <a:rPr lang="en-US"/>
              <a:t>Click to edit Master title style</a:t>
            </a:r>
            <a:endParaRPr lang="en-GB"/>
          </a:p>
        </p:txBody>
      </p:sp>
      <p:sp>
        <p:nvSpPr>
          <p:cNvPr id="4" name="Text Placeholder 8">
            <a:extLst>
              <a:ext uri="{FF2B5EF4-FFF2-40B4-BE49-F238E27FC236}">
                <a16:creationId xmlns:a16="http://schemas.microsoft.com/office/drawing/2014/main" id="{EB2CBB1D-4E2F-514D-5E2A-72195BBD7DB0}"/>
              </a:ext>
            </a:extLst>
          </p:cNvPr>
          <p:cNvSpPr>
            <a:spLocks noGrp="1"/>
          </p:cNvSpPr>
          <p:nvPr>
            <p:ph type="body" sz="quarter" idx="11"/>
          </p:nvPr>
        </p:nvSpPr>
        <p:spPr>
          <a:xfrm>
            <a:off x="6182690" y="5064125"/>
            <a:ext cx="5721140" cy="1073150"/>
          </a:xfrm>
          <a:prstGeom prst="rect">
            <a:avLst/>
          </a:prstGeom>
        </p:spPr>
        <p:txBody>
          <a:bodyPr/>
          <a:lstStyle>
            <a:lvl1pPr marL="0" indent="0" algn="r" defTabSz="914400" rtl="0" eaLnBrk="1" latinLnBrk="0" hangingPunct="1">
              <a:lnSpc>
                <a:spcPct val="90000"/>
              </a:lnSpc>
              <a:spcBef>
                <a:spcPct val="0"/>
              </a:spcBef>
              <a:buNone/>
              <a:defRPr lang="en-US" sz="2800" kern="1200" dirty="0" smtClean="0">
                <a:solidFill>
                  <a:schemeClr val="bg1"/>
                </a:solidFill>
                <a:latin typeface="Cairo" panose="00000800000000000000" pitchFamily="2" charset="-78"/>
                <a:ea typeface="+mj-ea"/>
                <a:cs typeface="Cairo" panose="00000800000000000000" pitchFamily="2" charset="-78"/>
              </a:defRPr>
            </a:lvl1pPr>
          </a:lstStyle>
          <a:p>
            <a:pPr lvl="0"/>
            <a:r>
              <a:rPr lang="en-US" dirty="0"/>
              <a:t>Click to edit Master text styles</a:t>
            </a:r>
          </a:p>
        </p:txBody>
      </p:sp>
      <p:sp>
        <p:nvSpPr>
          <p:cNvPr id="6" name="Footer Placeholder 5">
            <a:extLst>
              <a:ext uri="{FF2B5EF4-FFF2-40B4-BE49-F238E27FC236}">
                <a16:creationId xmlns:a16="http://schemas.microsoft.com/office/drawing/2014/main" id="{57A9C4F9-BA8A-ECCB-509D-FF1D19B05309}"/>
              </a:ext>
            </a:extLst>
          </p:cNvPr>
          <p:cNvSpPr>
            <a:spLocks noGrp="1"/>
          </p:cNvSpPr>
          <p:nvPr>
            <p:ph type="ftr" sz="quarter" idx="12"/>
          </p:nvPr>
        </p:nvSpPr>
        <p:spPr>
          <a:xfrm>
            <a:off x="251605" y="6310313"/>
            <a:ext cx="4114800" cy="365125"/>
          </a:xfrm>
        </p:spPr>
        <p:txBody>
          <a:bodyPr anchor="b"/>
          <a:lstStyle/>
          <a:p>
            <a:r>
              <a:rPr lang="en-GB"/>
              <a:t>Private &amp; Confidential</a:t>
            </a:r>
            <a:endParaRPr lang="en-GB" dirty="0"/>
          </a:p>
        </p:txBody>
      </p:sp>
    </p:spTree>
    <p:extLst>
      <p:ext uri="{BB962C8B-B14F-4D97-AF65-F5344CB8AC3E}">
        <p14:creationId xmlns:p14="http://schemas.microsoft.com/office/powerpoint/2010/main" val="196113406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3" name="Title Placeholder 1">
            <a:extLst>
              <a:ext uri="{FF2B5EF4-FFF2-40B4-BE49-F238E27FC236}">
                <a16:creationId xmlns:a16="http://schemas.microsoft.com/office/drawing/2014/main" id="{60E460F3-D490-E429-2393-15281F9C687E}"/>
              </a:ext>
            </a:extLst>
          </p:cNvPr>
          <p:cNvSpPr>
            <a:spLocks noGrp="1"/>
          </p:cNvSpPr>
          <p:nvPr>
            <p:ph type="title"/>
          </p:nvPr>
        </p:nvSpPr>
        <p:spPr>
          <a:xfrm>
            <a:off x="6182690" y="3060088"/>
            <a:ext cx="5721140" cy="1325563"/>
          </a:xfrm>
          <a:prstGeom prst="rect">
            <a:avLst/>
          </a:prstGeom>
        </p:spPr>
        <p:txBody>
          <a:bodyPr vert="horz" lIns="91440" tIns="45720" rIns="91440" bIns="45720" rtlCol="0" anchor="ctr">
            <a:noAutofit/>
          </a:bodyPr>
          <a:lstStyle/>
          <a:p>
            <a:r>
              <a:rPr lang="en-US"/>
              <a:t>Click to edit Master title style</a:t>
            </a:r>
            <a:endParaRPr lang="en-GB"/>
          </a:p>
        </p:txBody>
      </p:sp>
      <p:sp>
        <p:nvSpPr>
          <p:cNvPr id="4" name="Text Placeholder 8">
            <a:extLst>
              <a:ext uri="{FF2B5EF4-FFF2-40B4-BE49-F238E27FC236}">
                <a16:creationId xmlns:a16="http://schemas.microsoft.com/office/drawing/2014/main" id="{EB2CBB1D-4E2F-514D-5E2A-72195BBD7DB0}"/>
              </a:ext>
            </a:extLst>
          </p:cNvPr>
          <p:cNvSpPr>
            <a:spLocks noGrp="1"/>
          </p:cNvSpPr>
          <p:nvPr>
            <p:ph type="body" sz="quarter" idx="11"/>
          </p:nvPr>
        </p:nvSpPr>
        <p:spPr>
          <a:xfrm>
            <a:off x="6182690" y="5064125"/>
            <a:ext cx="5721140" cy="1073150"/>
          </a:xfrm>
          <a:prstGeom prst="rect">
            <a:avLst/>
          </a:prstGeom>
        </p:spPr>
        <p:txBody>
          <a:bodyPr/>
          <a:lstStyle>
            <a:lvl1pPr marL="0" indent="0" algn="r" defTabSz="914400" rtl="0" eaLnBrk="1" latinLnBrk="0" hangingPunct="1">
              <a:lnSpc>
                <a:spcPct val="90000"/>
              </a:lnSpc>
              <a:spcBef>
                <a:spcPct val="0"/>
              </a:spcBef>
              <a:buNone/>
              <a:defRPr lang="en-US" sz="2800" kern="1200" dirty="0" smtClean="0">
                <a:solidFill>
                  <a:schemeClr val="bg1"/>
                </a:solidFill>
                <a:latin typeface="Cairo" panose="00000800000000000000" pitchFamily="2" charset="-78"/>
                <a:ea typeface="+mj-ea"/>
                <a:cs typeface="Cairo" panose="00000800000000000000" pitchFamily="2" charset="-78"/>
              </a:defRPr>
            </a:lvl1pPr>
          </a:lstStyle>
          <a:p>
            <a:pPr lvl="0"/>
            <a:r>
              <a:rPr lang="en-US" dirty="0"/>
              <a:t>Click to edit Master text styles</a:t>
            </a:r>
          </a:p>
        </p:txBody>
      </p:sp>
      <p:sp>
        <p:nvSpPr>
          <p:cNvPr id="6" name="Footer Placeholder 5">
            <a:extLst>
              <a:ext uri="{FF2B5EF4-FFF2-40B4-BE49-F238E27FC236}">
                <a16:creationId xmlns:a16="http://schemas.microsoft.com/office/drawing/2014/main" id="{57A9C4F9-BA8A-ECCB-509D-FF1D19B05309}"/>
              </a:ext>
            </a:extLst>
          </p:cNvPr>
          <p:cNvSpPr>
            <a:spLocks noGrp="1"/>
          </p:cNvSpPr>
          <p:nvPr>
            <p:ph type="ftr" sz="quarter" idx="12"/>
          </p:nvPr>
        </p:nvSpPr>
        <p:spPr>
          <a:xfrm>
            <a:off x="251605" y="6310313"/>
            <a:ext cx="4114800" cy="365125"/>
          </a:xfrm>
        </p:spPr>
        <p:txBody>
          <a:bodyPr anchor="b"/>
          <a:lstStyle/>
          <a:p>
            <a:r>
              <a:rPr lang="en-GB"/>
              <a:t>Private &amp; Confidential</a:t>
            </a:r>
            <a:endParaRPr lang="en-GB" dirty="0"/>
          </a:p>
        </p:txBody>
      </p:sp>
    </p:spTree>
    <p:extLst>
      <p:ext uri="{BB962C8B-B14F-4D97-AF65-F5344CB8AC3E}">
        <p14:creationId xmlns:p14="http://schemas.microsoft.com/office/powerpoint/2010/main" val="121428677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10" name="Text Placeholder 8">
            <a:extLst>
              <a:ext uri="{FF2B5EF4-FFF2-40B4-BE49-F238E27FC236}">
                <a16:creationId xmlns:a16="http://schemas.microsoft.com/office/drawing/2014/main" id="{E251F523-59C7-44E0-AC21-25E287DD63FF}"/>
              </a:ext>
            </a:extLst>
          </p:cNvPr>
          <p:cNvSpPr>
            <a:spLocks noGrp="1"/>
          </p:cNvSpPr>
          <p:nvPr>
            <p:ph type="body" sz="quarter" idx="11"/>
          </p:nvPr>
        </p:nvSpPr>
        <p:spPr>
          <a:xfrm>
            <a:off x="4630056" y="4380139"/>
            <a:ext cx="7402513" cy="1073150"/>
          </a:xfrm>
          <a:prstGeom prst="rect">
            <a:avLst/>
          </a:prstGeom>
        </p:spPr>
        <p:txBody>
          <a:bodyPr/>
          <a:lstStyle>
            <a:lvl1pPr marL="0" indent="0" algn="l" defTabSz="914400" rtl="0" eaLnBrk="1" latinLnBrk="0" hangingPunct="1">
              <a:lnSpc>
                <a:spcPct val="90000"/>
              </a:lnSpc>
              <a:spcBef>
                <a:spcPct val="0"/>
              </a:spcBef>
              <a:buNone/>
              <a:defRPr lang="en-US" sz="2800" kern="1200" dirty="0" smtClean="0">
                <a:solidFill>
                  <a:srgbClr val="240B60"/>
                </a:solidFill>
                <a:latin typeface="Cairo" panose="00000800000000000000" pitchFamily="2" charset="-78"/>
                <a:ea typeface="+mj-ea"/>
                <a:cs typeface="Cairo" panose="00000800000000000000" pitchFamily="2" charset="-78"/>
              </a:defRPr>
            </a:lvl1pPr>
          </a:lstStyle>
          <a:p>
            <a:pPr lvl="0"/>
            <a:r>
              <a:rPr lang="en-US"/>
              <a:t>Click to edit Master text styles</a:t>
            </a:r>
          </a:p>
        </p:txBody>
      </p:sp>
      <p:sp>
        <p:nvSpPr>
          <p:cNvPr id="11" name="Title 10">
            <a:extLst>
              <a:ext uri="{FF2B5EF4-FFF2-40B4-BE49-F238E27FC236}">
                <a16:creationId xmlns:a16="http://schemas.microsoft.com/office/drawing/2014/main" id="{7A141497-36C3-40EF-B498-A9A0DA4F820D}"/>
              </a:ext>
            </a:extLst>
          </p:cNvPr>
          <p:cNvSpPr>
            <a:spLocks noGrp="1"/>
          </p:cNvSpPr>
          <p:nvPr>
            <p:ph type="title"/>
          </p:nvPr>
        </p:nvSpPr>
        <p:spPr>
          <a:xfrm>
            <a:off x="4635567" y="3429000"/>
            <a:ext cx="7556433" cy="731792"/>
          </a:xfrm>
        </p:spPr>
        <p:txBody>
          <a:bodyPr anchor="b"/>
          <a:lstStyle/>
          <a:p>
            <a:r>
              <a:rPr lang="en-US" dirty="0"/>
              <a:t>Click to edit Master title style</a:t>
            </a:r>
            <a:endParaRPr lang="en-GB" dirty="0"/>
          </a:p>
        </p:txBody>
      </p:sp>
      <p:sp>
        <p:nvSpPr>
          <p:cNvPr id="3" name="Footer Placeholder 2">
            <a:extLst>
              <a:ext uri="{FF2B5EF4-FFF2-40B4-BE49-F238E27FC236}">
                <a16:creationId xmlns:a16="http://schemas.microsoft.com/office/drawing/2014/main" id="{F579D9D4-70EA-87D2-CE87-E24AFADC0411}"/>
              </a:ext>
            </a:extLst>
          </p:cNvPr>
          <p:cNvSpPr>
            <a:spLocks noGrp="1"/>
          </p:cNvSpPr>
          <p:nvPr>
            <p:ph type="ftr" sz="quarter" idx="12"/>
          </p:nvPr>
        </p:nvSpPr>
        <p:spPr/>
        <p:txBody>
          <a:bodyPr/>
          <a:lstStyle/>
          <a:p>
            <a:r>
              <a:rPr lang="en-US"/>
              <a:t>Private &amp; Confidential</a:t>
            </a:r>
            <a:endParaRPr lang="en-GB" dirty="0"/>
          </a:p>
        </p:txBody>
      </p:sp>
    </p:spTree>
    <p:extLst>
      <p:ext uri="{BB962C8B-B14F-4D97-AF65-F5344CB8AC3E}">
        <p14:creationId xmlns:p14="http://schemas.microsoft.com/office/powerpoint/2010/main" val="289114312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735B813-C7B9-4148-8468-D6634F20AC8E}"/>
              </a:ext>
            </a:extLst>
          </p:cNvPr>
          <p:cNvSpPr>
            <a:spLocks noGrp="1"/>
          </p:cNvSpPr>
          <p:nvPr>
            <p:ph sz="half" idx="1"/>
          </p:nvPr>
        </p:nvSpPr>
        <p:spPr>
          <a:xfrm>
            <a:off x="787955" y="1426866"/>
            <a:ext cx="5308043" cy="4715142"/>
          </a:xfrm>
          <a:prstGeom prst="rect">
            <a:avLst/>
          </a:prstGeo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4" name="Content Placeholder 3">
            <a:extLst>
              <a:ext uri="{FF2B5EF4-FFF2-40B4-BE49-F238E27FC236}">
                <a16:creationId xmlns:a16="http://schemas.microsoft.com/office/drawing/2014/main" id="{F371B069-6648-418A-85BF-5FB09B435AE1}"/>
              </a:ext>
            </a:extLst>
          </p:cNvPr>
          <p:cNvSpPr>
            <a:spLocks noGrp="1"/>
          </p:cNvSpPr>
          <p:nvPr>
            <p:ph sz="half" idx="2"/>
          </p:nvPr>
        </p:nvSpPr>
        <p:spPr>
          <a:xfrm>
            <a:off x="6172200" y="1426866"/>
            <a:ext cx="5308042" cy="4715142"/>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Slide Number Placeholder 6">
            <a:extLst>
              <a:ext uri="{FF2B5EF4-FFF2-40B4-BE49-F238E27FC236}">
                <a16:creationId xmlns:a16="http://schemas.microsoft.com/office/drawing/2014/main" id="{D91FADA3-00D0-F1B0-1031-3A3E7E2487D0}"/>
              </a:ext>
            </a:extLst>
          </p:cNvPr>
          <p:cNvSpPr>
            <a:spLocks noGrp="1"/>
          </p:cNvSpPr>
          <p:nvPr>
            <p:ph type="sldNum" sz="quarter" idx="11"/>
          </p:nvPr>
        </p:nvSpPr>
        <p:spPr/>
        <p:txBody>
          <a:bodyPr/>
          <a:lstStyle/>
          <a:p>
            <a:fld id="{2870BB4D-683F-4BE4-9264-B05BE7781C96}" type="slidenum">
              <a:rPr lang="en-GB" smtClean="0"/>
              <a:pPr/>
              <a:t>‹#›</a:t>
            </a:fld>
            <a:endParaRPr lang="en-GB"/>
          </a:p>
        </p:txBody>
      </p:sp>
      <p:sp>
        <p:nvSpPr>
          <p:cNvPr id="8" name="Footer Placeholder 7">
            <a:extLst>
              <a:ext uri="{FF2B5EF4-FFF2-40B4-BE49-F238E27FC236}">
                <a16:creationId xmlns:a16="http://schemas.microsoft.com/office/drawing/2014/main" id="{CAD6248F-7EB6-7D0A-975B-DBD16B41F58C}"/>
              </a:ext>
            </a:extLst>
          </p:cNvPr>
          <p:cNvSpPr>
            <a:spLocks noGrp="1"/>
          </p:cNvSpPr>
          <p:nvPr>
            <p:ph type="ftr" sz="quarter" idx="12"/>
          </p:nvPr>
        </p:nvSpPr>
        <p:spPr/>
        <p:txBody>
          <a:bodyPr/>
          <a:lstStyle/>
          <a:p>
            <a:r>
              <a:rPr lang="en-GB"/>
              <a:t>Private &amp; Confidential</a:t>
            </a:r>
            <a:endParaRPr lang="en-GB" dirty="0"/>
          </a:p>
        </p:txBody>
      </p:sp>
      <p:sp>
        <p:nvSpPr>
          <p:cNvPr id="5" name="Title Placeholder 1">
            <a:extLst>
              <a:ext uri="{FF2B5EF4-FFF2-40B4-BE49-F238E27FC236}">
                <a16:creationId xmlns:a16="http://schemas.microsoft.com/office/drawing/2014/main" id="{061CDCDF-E4A9-62BF-8DE5-EE6BE1B6F1E6}"/>
              </a:ext>
            </a:extLst>
          </p:cNvPr>
          <p:cNvSpPr>
            <a:spLocks noGrp="1"/>
          </p:cNvSpPr>
          <p:nvPr>
            <p:ph type="title"/>
          </p:nvPr>
        </p:nvSpPr>
        <p:spPr>
          <a:xfrm>
            <a:off x="711758" y="685097"/>
            <a:ext cx="10783556" cy="614326"/>
          </a:xfrm>
          <a:prstGeom prst="rect">
            <a:avLst/>
          </a:prstGeom>
        </p:spPr>
        <p:txBody>
          <a:bodyPr vert="horz" lIns="91440" tIns="45720" rIns="91440" bIns="45720" rtlCol="0" anchor="ctr">
            <a:normAutofit/>
          </a:bodyPr>
          <a:lstStyle/>
          <a:p>
            <a:r>
              <a:rPr lang="en-US"/>
              <a:t>Click to edit Master title style</a:t>
            </a:r>
            <a:endParaRPr lang="en-GB"/>
          </a:p>
        </p:txBody>
      </p:sp>
    </p:spTree>
    <p:extLst>
      <p:ext uri="{BB962C8B-B14F-4D97-AF65-F5344CB8AC3E}">
        <p14:creationId xmlns:p14="http://schemas.microsoft.com/office/powerpoint/2010/main" val="7093329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3D9BE2F-A423-43F1-8573-6ACFA91AD082}"/>
              </a:ext>
            </a:extLst>
          </p:cNvPr>
          <p:cNvSpPr>
            <a:spLocks noGrp="1"/>
          </p:cNvSpPr>
          <p:nvPr>
            <p:ph idx="1"/>
          </p:nvPr>
        </p:nvSpPr>
        <p:spPr>
          <a:xfrm>
            <a:off x="783772" y="1430235"/>
            <a:ext cx="10694795" cy="4799595"/>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Slide Number Placeholder 6">
            <a:extLst>
              <a:ext uri="{FF2B5EF4-FFF2-40B4-BE49-F238E27FC236}">
                <a16:creationId xmlns:a16="http://schemas.microsoft.com/office/drawing/2014/main" id="{148F9F9F-A3A3-1358-C040-3BDB02D466FB}"/>
              </a:ext>
            </a:extLst>
          </p:cNvPr>
          <p:cNvSpPr>
            <a:spLocks noGrp="1"/>
          </p:cNvSpPr>
          <p:nvPr>
            <p:ph type="sldNum" sz="quarter" idx="11"/>
          </p:nvPr>
        </p:nvSpPr>
        <p:spPr/>
        <p:txBody>
          <a:bodyPr/>
          <a:lstStyle/>
          <a:p>
            <a:fld id="{2870BB4D-683F-4BE4-9264-B05BE7781C96}" type="slidenum">
              <a:rPr lang="en-GB" smtClean="0"/>
              <a:pPr/>
              <a:t>‹#›</a:t>
            </a:fld>
            <a:endParaRPr lang="en-GB"/>
          </a:p>
        </p:txBody>
      </p:sp>
      <p:sp>
        <p:nvSpPr>
          <p:cNvPr id="9" name="Footer Placeholder 8">
            <a:extLst>
              <a:ext uri="{FF2B5EF4-FFF2-40B4-BE49-F238E27FC236}">
                <a16:creationId xmlns:a16="http://schemas.microsoft.com/office/drawing/2014/main" id="{14CF47CB-F540-5265-F4D7-CA3BED5B6F47}"/>
              </a:ext>
            </a:extLst>
          </p:cNvPr>
          <p:cNvSpPr>
            <a:spLocks noGrp="1"/>
          </p:cNvSpPr>
          <p:nvPr>
            <p:ph type="ftr" sz="quarter" idx="12"/>
          </p:nvPr>
        </p:nvSpPr>
        <p:spPr/>
        <p:txBody>
          <a:bodyPr/>
          <a:lstStyle/>
          <a:p>
            <a:r>
              <a:rPr lang="en-GB"/>
              <a:t>Private &amp; Confidential</a:t>
            </a:r>
            <a:endParaRPr lang="en-GB" dirty="0"/>
          </a:p>
        </p:txBody>
      </p:sp>
      <p:sp>
        <p:nvSpPr>
          <p:cNvPr id="2" name="Title Placeholder 1">
            <a:extLst>
              <a:ext uri="{FF2B5EF4-FFF2-40B4-BE49-F238E27FC236}">
                <a16:creationId xmlns:a16="http://schemas.microsoft.com/office/drawing/2014/main" id="{00B26DC5-DDFE-89E2-5A3B-DD0ACB459873}"/>
              </a:ext>
            </a:extLst>
          </p:cNvPr>
          <p:cNvSpPr>
            <a:spLocks noGrp="1"/>
          </p:cNvSpPr>
          <p:nvPr>
            <p:ph type="title"/>
          </p:nvPr>
        </p:nvSpPr>
        <p:spPr>
          <a:xfrm>
            <a:off x="713433" y="681781"/>
            <a:ext cx="10765134" cy="614326"/>
          </a:xfrm>
          <a:prstGeom prst="rect">
            <a:avLst/>
          </a:prstGeom>
        </p:spPr>
        <p:txBody>
          <a:bodyPr vert="horz" lIns="91440" tIns="45720" rIns="91440" bIns="45720" rtlCol="0" anchor="ctr">
            <a:normAutofit/>
          </a:bodyPr>
          <a:lstStyle>
            <a:lvl1pPr>
              <a:defRPr sz="3600" b="0">
                <a:latin typeface="Cairo Medium" pitchFamily="2" charset="-78"/>
                <a:cs typeface="Cairo Medium" pitchFamily="2" charset="-78"/>
              </a:defRPr>
            </a:lvl1pPr>
          </a:lstStyle>
          <a:p>
            <a:r>
              <a:rPr lang="en-US" dirty="0"/>
              <a:t>Click to edit Master title style</a:t>
            </a:r>
            <a:endParaRPr lang="en-GB" dirty="0"/>
          </a:p>
        </p:txBody>
      </p:sp>
    </p:spTree>
    <p:extLst>
      <p:ext uri="{BB962C8B-B14F-4D97-AF65-F5344CB8AC3E}">
        <p14:creationId xmlns:p14="http://schemas.microsoft.com/office/powerpoint/2010/main" val="312030804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997E3492-1E5E-4471-AF13-27D3F0DFDB05}"/>
              </a:ext>
            </a:extLst>
          </p:cNvPr>
          <p:cNvSpPr>
            <a:spLocks noGrp="1"/>
          </p:cNvSpPr>
          <p:nvPr>
            <p:ph type="body" idx="1"/>
          </p:nvPr>
        </p:nvSpPr>
        <p:spPr>
          <a:xfrm>
            <a:off x="784868" y="1430465"/>
            <a:ext cx="5311132" cy="636778"/>
          </a:xfrm>
          <a:prstGeom prst="rect">
            <a:avLst/>
          </a:prstGeom>
        </p:spPr>
        <p:txBody>
          <a:bodyPr anchor="t">
            <a:normAutofit/>
          </a:bodyPr>
          <a:lstStyle>
            <a:lvl1pPr marL="0" indent="0">
              <a:buNone/>
              <a:defRPr sz="2800" b="0">
                <a:solidFill>
                  <a:srgbClr val="240B60"/>
                </a:solidFill>
                <a:latin typeface="Cairo" panose="00000800000000000000" pitchFamily="2" charset="-78"/>
                <a:cs typeface="Cairo" panose="00000800000000000000" pitchFamily="2" charset="-78"/>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B77AF75C-BFEF-43D8-900B-A212B022ADD0}"/>
              </a:ext>
            </a:extLst>
          </p:cNvPr>
          <p:cNvSpPr>
            <a:spLocks noGrp="1"/>
          </p:cNvSpPr>
          <p:nvPr>
            <p:ph sz="half" idx="2"/>
          </p:nvPr>
        </p:nvSpPr>
        <p:spPr>
          <a:xfrm>
            <a:off x="781692" y="2087909"/>
            <a:ext cx="5311132" cy="4084793"/>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2F4F6072-5233-4C61-886D-7A1AFB6B2A99}"/>
              </a:ext>
            </a:extLst>
          </p:cNvPr>
          <p:cNvSpPr>
            <a:spLocks noGrp="1"/>
          </p:cNvSpPr>
          <p:nvPr>
            <p:ph type="body" sz="quarter" idx="3"/>
          </p:nvPr>
        </p:nvSpPr>
        <p:spPr>
          <a:xfrm>
            <a:off x="6164261" y="1416778"/>
            <a:ext cx="5317481" cy="636778"/>
          </a:xfrm>
          <a:prstGeom prst="rect">
            <a:avLst/>
          </a:prstGeom>
        </p:spPr>
        <p:txBody>
          <a:bodyPr anchor="t">
            <a:noAutofit/>
          </a:bodyPr>
          <a:lstStyle>
            <a:lvl1pPr marL="0" indent="0">
              <a:buNone/>
              <a:defRPr sz="2800" b="0">
                <a:solidFill>
                  <a:srgbClr val="240B60"/>
                </a:solidFill>
                <a:latin typeface="Cairo" panose="00000800000000000000" pitchFamily="2" charset="-78"/>
                <a:cs typeface="Cairo" panose="00000800000000000000" pitchFamily="2" charset="-78"/>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a:extLst>
              <a:ext uri="{FF2B5EF4-FFF2-40B4-BE49-F238E27FC236}">
                <a16:creationId xmlns:a16="http://schemas.microsoft.com/office/drawing/2014/main" id="{8AAFB977-7AF0-4A09-9C88-06A36627D5C5}"/>
              </a:ext>
            </a:extLst>
          </p:cNvPr>
          <p:cNvSpPr>
            <a:spLocks noGrp="1"/>
          </p:cNvSpPr>
          <p:nvPr>
            <p:ph sz="quarter" idx="4"/>
          </p:nvPr>
        </p:nvSpPr>
        <p:spPr>
          <a:xfrm>
            <a:off x="6167435" y="2074223"/>
            <a:ext cx="5311131" cy="4084792"/>
          </a:xfrm>
          <a:prstGeom prst="rect">
            <a:avLst/>
          </a:prstGeo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10" name="Slide Number Placeholder 9">
            <a:extLst>
              <a:ext uri="{FF2B5EF4-FFF2-40B4-BE49-F238E27FC236}">
                <a16:creationId xmlns:a16="http://schemas.microsoft.com/office/drawing/2014/main" id="{3CB2A309-76BD-D839-DCFD-98E9B1B369BB}"/>
              </a:ext>
            </a:extLst>
          </p:cNvPr>
          <p:cNvSpPr>
            <a:spLocks noGrp="1"/>
          </p:cNvSpPr>
          <p:nvPr>
            <p:ph type="sldNum" sz="quarter" idx="11"/>
          </p:nvPr>
        </p:nvSpPr>
        <p:spPr/>
        <p:txBody>
          <a:bodyPr/>
          <a:lstStyle/>
          <a:p>
            <a:fld id="{2870BB4D-683F-4BE4-9264-B05BE7781C96}" type="slidenum">
              <a:rPr lang="en-GB" smtClean="0"/>
              <a:pPr/>
              <a:t>‹#›</a:t>
            </a:fld>
            <a:endParaRPr lang="en-GB"/>
          </a:p>
        </p:txBody>
      </p:sp>
      <p:sp>
        <p:nvSpPr>
          <p:cNvPr id="11" name="Footer Placeholder 10">
            <a:extLst>
              <a:ext uri="{FF2B5EF4-FFF2-40B4-BE49-F238E27FC236}">
                <a16:creationId xmlns:a16="http://schemas.microsoft.com/office/drawing/2014/main" id="{F511415A-1CF6-AB0C-CE0B-801CFE33F503}"/>
              </a:ext>
            </a:extLst>
          </p:cNvPr>
          <p:cNvSpPr>
            <a:spLocks noGrp="1"/>
          </p:cNvSpPr>
          <p:nvPr>
            <p:ph type="ftr" sz="quarter" idx="12"/>
          </p:nvPr>
        </p:nvSpPr>
        <p:spPr/>
        <p:txBody>
          <a:bodyPr/>
          <a:lstStyle/>
          <a:p>
            <a:r>
              <a:rPr lang="en-GB"/>
              <a:t>Private &amp; Confidential</a:t>
            </a:r>
            <a:endParaRPr lang="en-GB" dirty="0"/>
          </a:p>
        </p:txBody>
      </p:sp>
      <p:sp>
        <p:nvSpPr>
          <p:cNvPr id="7" name="Title Placeholder 1">
            <a:extLst>
              <a:ext uri="{FF2B5EF4-FFF2-40B4-BE49-F238E27FC236}">
                <a16:creationId xmlns:a16="http://schemas.microsoft.com/office/drawing/2014/main" id="{80D8FDE6-6486-F78B-BDD5-E169069B6009}"/>
              </a:ext>
            </a:extLst>
          </p:cNvPr>
          <p:cNvSpPr>
            <a:spLocks noGrp="1"/>
          </p:cNvSpPr>
          <p:nvPr>
            <p:ph type="title"/>
          </p:nvPr>
        </p:nvSpPr>
        <p:spPr>
          <a:xfrm>
            <a:off x="713433" y="681781"/>
            <a:ext cx="10765134" cy="614326"/>
          </a:xfrm>
          <a:prstGeom prst="rect">
            <a:avLst/>
          </a:prstGeom>
        </p:spPr>
        <p:txBody>
          <a:bodyPr vert="horz" lIns="91440" tIns="45720" rIns="91440" bIns="45720" rtlCol="0" anchor="ctr">
            <a:normAutofit/>
          </a:bodyPr>
          <a:lstStyle/>
          <a:p>
            <a:r>
              <a:rPr lang="en-US"/>
              <a:t>Click to edit Master title style</a:t>
            </a:r>
            <a:endParaRPr lang="en-GB"/>
          </a:p>
        </p:txBody>
      </p:sp>
    </p:spTree>
    <p:extLst>
      <p:ext uri="{BB962C8B-B14F-4D97-AF65-F5344CB8AC3E}">
        <p14:creationId xmlns:p14="http://schemas.microsoft.com/office/powerpoint/2010/main" val="174533691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D17D8224-2F85-4804-AE5A-5DEC7CBA5029}"/>
              </a:ext>
            </a:extLst>
          </p:cNvPr>
          <p:cNvSpPr>
            <a:spLocks noGrp="1"/>
          </p:cNvSpPr>
          <p:nvPr>
            <p:ph type="pic" idx="1"/>
          </p:nvPr>
        </p:nvSpPr>
        <p:spPr>
          <a:xfrm>
            <a:off x="5183188" y="1523999"/>
            <a:ext cx="6172200" cy="457487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E964EE1B-6CAC-42A1-869F-79FA2C94009F}"/>
              </a:ext>
            </a:extLst>
          </p:cNvPr>
          <p:cNvSpPr>
            <a:spLocks noGrp="1"/>
          </p:cNvSpPr>
          <p:nvPr>
            <p:ph type="body" sz="half" idx="2"/>
          </p:nvPr>
        </p:nvSpPr>
        <p:spPr>
          <a:xfrm>
            <a:off x="839788" y="1524000"/>
            <a:ext cx="4114800" cy="4574876"/>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7" name="Slide Number Placeholder 6">
            <a:extLst>
              <a:ext uri="{FF2B5EF4-FFF2-40B4-BE49-F238E27FC236}">
                <a16:creationId xmlns:a16="http://schemas.microsoft.com/office/drawing/2014/main" id="{C51D8CE2-9FF8-4ACE-E6F7-C34CC7FD4D45}"/>
              </a:ext>
            </a:extLst>
          </p:cNvPr>
          <p:cNvSpPr>
            <a:spLocks noGrp="1"/>
          </p:cNvSpPr>
          <p:nvPr>
            <p:ph type="sldNum" sz="quarter" idx="11"/>
          </p:nvPr>
        </p:nvSpPr>
        <p:spPr/>
        <p:txBody>
          <a:bodyPr/>
          <a:lstStyle/>
          <a:p>
            <a:fld id="{2870BB4D-683F-4BE4-9264-B05BE7781C96}" type="slidenum">
              <a:rPr lang="en-GB" smtClean="0"/>
              <a:pPr/>
              <a:t>‹#›</a:t>
            </a:fld>
            <a:endParaRPr lang="en-GB"/>
          </a:p>
        </p:txBody>
      </p:sp>
      <p:sp>
        <p:nvSpPr>
          <p:cNvPr id="9" name="Footer Placeholder 8">
            <a:extLst>
              <a:ext uri="{FF2B5EF4-FFF2-40B4-BE49-F238E27FC236}">
                <a16:creationId xmlns:a16="http://schemas.microsoft.com/office/drawing/2014/main" id="{577C515B-FCDC-A9A5-25AB-92F64520D3FE}"/>
              </a:ext>
            </a:extLst>
          </p:cNvPr>
          <p:cNvSpPr>
            <a:spLocks noGrp="1"/>
          </p:cNvSpPr>
          <p:nvPr>
            <p:ph type="ftr" sz="quarter" idx="12"/>
          </p:nvPr>
        </p:nvSpPr>
        <p:spPr/>
        <p:txBody>
          <a:bodyPr/>
          <a:lstStyle/>
          <a:p>
            <a:r>
              <a:rPr lang="en-GB"/>
              <a:t>Private &amp; Confidential</a:t>
            </a:r>
            <a:endParaRPr lang="en-GB" dirty="0"/>
          </a:p>
        </p:txBody>
      </p:sp>
      <p:sp>
        <p:nvSpPr>
          <p:cNvPr id="2" name="Title Placeholder 1">
            <a:extLst>
              <a:ext uri="{FF2B5EF4-FFF2-40B4-BE49-F238E27FC236}">
                <a16:creationId xmlns:a16="http://schemas.microsoft.com/office/drawing/2014/main" id="{9CB82050-C82C-109C-7B25-176C0DE52FD5}"/>
              </a:ext>
            </a:extLst>
          </p:cNvPr>
          <p:cNvSpPr>
            <a:spLocks noGrp="1"/>
          </p:cNvSpPr>
          <p:nvPr>
            <p:ph type="title"/>
          </p:nvPr>
        </p:nvSpPr>
        <p:spPr>
          <a:xfrm>
            <a:off x="711758" y="685097"/>
            <a:ext cx="10783556" cy="614326"/>
          </a:xfrm>
          <a:prstGeom prst="rect">
            <a:avLst/>
          </a:prstGeom>
        </p:spPr>
        <p:txBody>
          <a:bodyPr vert="horz" lIns="91440" tIns="45720" rIns="91440" bIns="45720" rtlCol="0" anchor="ctr">
            <a:normAutofit/>
          </a:bodyPr>
          <a:lstStyle/>
          <a:p>
            <a:r>
              <a:rPr lang="en-US"/>
              <a:t>Click to edit Master title style</a:t>
            </a:r>
            <a:endParaRPr lang="en-GB"/>
          </a:p>
        </p:txBody>
      </p:sp>
    </p:spTree>
    <p:extLst>
      <p:ext uri="{BB962C8B-B14F-4D97-AF65-F5344CB8AC3E}">
        <p14:creationId xmlns:p14="http://schemas.microsoft.com/office/powerpoint/2010/main" val="412871944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2B410E14-5E4B-E2CC-51AF-91DB44C25A17}"/>
              </a:ext>
            </a:extLst>
          </p:cNvPr>
          <p:cNvSpPr>
            <a:spLocks noGrp="1"/>
          </p:cNvSpPr>
          <p:nvPr>
            <p:ph type="ftr" sz="quarter" idx="10"/>
          </p:nvPr>
        </p:nvSpPr>
        <p:spPr/>
        <p:txBody>
          <a:bodyPr/>
          <a:lstStyle/>
          <a:p>
            <a:pPr>
              <a:defRPr/>
            </a:pPr>
            <a:r>
              <a:rPr lang="en-GB" sz="1800">
                <a:solidFill>
                  <a:srgbClr val="FFFFFF"/>
                </a:solidFill>
                <a:latin typeface="Cairo" panose="00000800000000000000" pitchFamily="2" charset="-78"/>
                <a:cs typeface="Cairo" panose="00000800000000000000" pitchFamily="2" charset="-78"/>
              </a:rPr>
              <a:t>Private &amp; Confidential</a:t>
            </a:r>
            <a:endParaRPr lang="en-GB" sz="1800" dirty="0">
              <a:solidFill>
                <a:srgbClr val="FFFFFF"/>
              </a:solidFill>
              <a:latin typeface="Cairo" panose="00000800000000000000" pitchFamily="2" charset="-78"/>
              <a:cs typeface="Cairo" panose="00000800000000000000" pitchFamily="2" charset="-78"/>
            </a:endParaRPr>
          </a:p>
        </p:txBody>
      </p:sp>
    </p:spTree>
    <p:extLst>
      <p:ext uri="{BB962C8B-B14F-4D97-AF65-F5344CB8AC3E}">
        <p14:creationId xmlns:p14="http://schemas.microsoft.com/office/powerpoint/2010/main" val="2330718110"/>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theme" Target="../theme/theme1.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Masters/_rels/slideMaster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theme" Target="../theme/theme2.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2.png"/></Relationships>
</file>

<file path=ppt/slideMasters/_rels/slideMaster3.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theme" Target="../theme/theme3.xml"/><Relationship Id="rId1" Type="http://schemas.openxmlformats.org/officeDocument/2006/relationships/slideLayout" Target="../slideLayouts/slideLayout3.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2.png"/></Relationships>
</file>

<file path=ppt/slideMasters/_rels/slideMaster4.xml.rels><?xml version="1.0" encoding="UTF-8" standalone="yes"?>
<Relationships xmlns="http://schemas.openxmlformats.org/package/2006/relationships"><Relationship Id="rId3" Type="http://schemas.openxmlformats.org/officeDocument/2006/relationships/slideLayout" Target="../slideLayouts/slideLayout6.xml"/><Relationship Id="rId7" Type="http://schemas.openxmlformats.org/officeDocument/2006/relationships/image" Target="../media/image3.png"/><Relationship Id="rId2" Type="http://schemas.openxmlformats.org/officeDocument/2006/relationships/slideLayout" Target="../slideLayouts/slideLayout5.xml"/><Relationship Id="rId1" Type="http://schemas.openxmlformats.org/officeDocument/2006/relationships/slideLayout" Target="../slideLayouts/slideLayout4.xml"/><Relationship Id="rId6" Type="http://schemas.openxmlformats.org/officeDocument/2006/relationships/image" Target="../media/image7.png"/><Relationship Id="rId5" Type="http://schemas.openxmlformats.org/officeDocument/2006/relationships/theme" Target="../theme/theme4.xml"/><Relationship Id="rId4" Type="http://schemas.openxmlformats.org/officeDocument/2006/relationships/slideLayout" Target="../slideLayouts/slideLayout7.xml"/></Relationships>
</file>

<file path=ppt/slideMasters/_rels/slideMaster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theme" Target="../theme/theme5.xml"/><Relationship Id="rId1"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5" name="Picture 4" descr="A group of trees in a field with Avenue of the Baobabs in the background&#10;&#10;Description automatically generated with low confidence">
            <a:extLst>
              <a:ext uri="{FF2B5EF4-FFF2-40B4-BE49-F238E27FC236}">
                <a16:creationId xmlns:a16="http://schemas.microsoft.com/office/drawing/2014/main" id="{CDDD22C7-6321-34D0-5B02-97AE2B1EF918}"/>
              </a:ext>
            </a:extLst>
          </p:cNvPr>
          <p:cNvPicPr>
            <a:picLocks noChangeAspect="1"/>
          </p:cNvPicPr>
          <p:nvPr userDrawn="1"/>
        </p:nvPicPr>
        <p:blipFill rotWithShape="1">
          <a:blip r:embed="rId3">
            <a:duotone>
              <a:schemeClr val="accent1">
                <a:shade val="45000"/>
                <a:satMod val="135000"/>
              </a:schemeClr>
              <a:prstClr val="white"/>
            </a:duotone>
            <a:extLst>
              <a:ext uri="{28A0092B-C50C-407E-A947-70E740481C1C}">
                <a14:useLocalDpi xmlns:a14="http://schemas.microsoft.com/office/drawing/2010/main" val="0"/>
              </a:ext>
            </a:extLst>
          </a:blip>
          <a:srcRect/>
          <a:stretch/>
        </p:blipFill>
        <p:spPr>
          <a:xfrm>
            <a:off x="0" y="1"/>
            <a:ext cx="12192000" cy="6858000"/>
          </a:xfrm>
          <a:prstGeom prst="rect">
            <a:avLst/>
          </a:prstGeom>
        </p:spPr>
      </p:pic>
      <p:sp>
        <p:nvSpPr>
          <p:cNvPr id="10" name="Rectangle 9">
            <a:extLst>
              <a:ext uri="{FF2B5EF4-FFF2-40B4-BE49-F238E27FC236}">
                <a16:creationId xmlns:a16="http://schemas.microsoft.com/office/drawing/2014/main" id="{C7F00E39-CE58-492F-99A1-5C4F968636A1}"/>
              </a:ext>
            </a:extLst>
          </p:cNvPr>
          <p:cNvSpPr/>
          <p:nvPr userDrawn="1"/>
        </p:nvSpPr>
        <p:spPr bwMode="auto">
          <a:xfrm>
            <a:off x="0" y="-1"/>
            <a:ext cx="12192001" cy="6858000"/>
          </a:xfrm>
          <a:prstGeom prst="rect">
            <a:avLst/>
          </a:prstGeom>
          <a:solidFill>
            <a:srgbClr val="240B60">
              <a:alpha val="34902"/>
            </a:srgbClr>
          </a:solidFill>
          <a:ln w="25400" cap="flat" cmpd="sng" algn="ctr">
            <a:noFill/>
            <a:prstDash val="solid"/>
            <a:miter lim="0"/>
            <a:headEnd type="none" w="med" len="med"/>
            <a:tailEnd type="none" w="med" len="med"/>
          </a:ln>
          <a:effectLst>
            <a:outerShdw blurRad="38100" dist="25400" dir="5400000" algn="ctr" rotWithShape="0">
              <a:srgbClr val="000000">
                <a:alpha val="50000"/>
              </a:srgbClr>
            </a:outerShdw>
          </a:effectLst>
        </p:spPr>
        <p:txBody>
          <a:bodyPr vert="horz" wrap="square" lIns="50800" tIns="50800" rIns="50800" bIns="50800" numCol="1" rtlCol="0" anchor="ctr" anchorCtr="0" compatLnSpc="1">
            <a:prstTxWarp prst="textNoShape">
              <a:avLst/>
            </a:prstTxWarp>
          </a:bodyPr>
          <a:lstStyle/>
          <a:p>
            <a:pPr marL="228600" marR="0" indent="0" algn="ctr" defTabSz="584200" rtl="0" eaLnBrk="1" fontAlgn="base" latinLnBrk="0" hangingPunct="0">
              <a:lnSpc>
                <a:spcPct val="100000"/>
              </a:lnSpc>
              <a:spcBef>
                <a:spcPct val="0"/>
              </a:spcBef>
              <a:spcAft>
                <a:spcPct val="0"/>
              </a:spcAft>
              <a:buClrTx/>
              <a:buSzTx/>
              <a:buFontTx/>
              <a:buNone/>
              <a:tabLst/>
            </a:pPr>
            <a:endParaRPr kumimoji="0" lang="en-GB" sz="3600" b="0" i="0" u="none" strike="noStrike" cap="none" normalizeH="0" baseline="0" dirty="0">
              <a:ln>
                <a:noFill/>
              </a:ln>
              <a:solidFill>
                <a:srgbClr val="000000"/>
              </a:solidFill>
              <a:effectLst/>
              <a:latin typeface="Cairo Medium" pitchFamily="2" charset="-78"/>
              <a:ea typeface="Helvetica Light" charset="0"/>
              <a:cs typeface="Cairo Medium" pitchFamily="2" charset="-78"/>
              <a:sym typeface="Helvetica Light" charset="0"/>
            </a:endParaRPr>
          </a:p>
        </p:txBody>
      </p:sp>
      <p:cxnSp>
        <p:nvCxnSpPr>
          <p:cNvPr id="15" name="Straight Connector 14">
            <a:extLst>
              <a:ext uri="{FF2B5EF4-FFF2-40B4-BE49-F238E27FC236}">
                <a16:creationId xmlns:a16="http://schemas.microsoft.com/office/drawing/2014/main" id="{05CCCD4C-9E14-4947-9015-028A492D4646}"/>
              </a:ext>
            </a:extLst>
          </p:cNvPr>
          <p:cNvCxnSpPr>
            <a:cxnSpLocks/>
          </p:cNvCxnSpPr>
          <p:nvPr userDrawn="1"/>
        </p:nvCxnSpPr>
        <p:spPr bwMode="auto">
          <a:xfrm>
            <a:off x="6286500" y="4711329"/>
            <a:ext cx="5617330" cy="0"/>
          </a:xfrm>
          <a:prstGeom prst="line">
            <a:avLst/>
          </a:prstGeom>
          <a:blipFill dpi="0" rotWithShape="0">
            <a:blip r:embed="rId4">
              <a:extLst>
                <a:ext uri="{28A0092B-C50C-407E-A947-70E740481C1C}">
                  <a14:useLocalDpi xmlns:a14="http://schemas.microsoft.com/office/drawing/2010/main" val="0"/>
                </a:ext>
              </a:extLst>
            </a:blip>
            <a:srcRect/>
            <a:tile tx="0" ty="0" sx="100000" sy="100000" flip="none" algn="tl"/>
          </a:blipFill>
          <a:ln w="25400" cap="flat" cmpd="sng" algn="ctr">
            <a:solidFill>
              <a:srgbClr val="FFCE42"/>
            </a:solidFill>
            <a:prstDash val="solid"/>
            <a:miter lim="0"/>
            <a:headEnd type="none" w="med" len="med"/>
            <a:tailEnd type="none" w="med" len="med"/>
          </a:ln>
          <a:effectLst>
            <a:outerShdw blurRad="38100" dist="25400" dir="5400000" algn="ctr" rotWithShape="0">
              <a:srgbClr val="000000">
                <a:alpha val="50000"/>
              </a:srgbClr>
            </a:outerShdw>
          </a:effectLst>
        </p:spPr>
      </p:cxnSp>
      <p:sp>
        <p:nvSpPr>
          <p:cNvPr id="23" name="Title Placeholder 1">
            <a:extLst>
              <a:ext uri="{FF2B5EF4-FFF2-40B4-BE49-F238E27FC236}">
                <a16:creationId xmlns:a16="http://schemas.microsoft.com/office/drawing/2014/main" id="{05BAA2CE-4ED2-4645-8C83-B990879402A7}"/>
              </a:ext>
            </a:extLst>
          </p:cNvPr>
          <p:cNvSpPr>
            <a:spLocks noGrp="1"/>
          </p:cNvSpPr>
          <p:nvPr>
            <p:ph type="title"/>
          </p:nvPr>
        </p:nvSpPr>
        <p:spPr>
          <a:xfrm>
            <a:off x="6182690" y="3058025"/>
            <a:ext cx="5721140" cy="1325563"/>
          </a:xfrm>
          <a:prstGeom prst="rect">
            <a:avLst/>
          </a:prstGeom>
        </p:spPr>
        <p:txBody>
          <a:bodyPr vert="horz" lIns="91440" tIns="45720" rIns="91440" bIns="45720" rtlCol="0" anchor="ctr">
            <a:noAutofit/>
          </a:bodyPr>
          <a:lstStyle/>
          <a:p>
            <a:r>
              <a:rPr lang="en-US" dirty="0"/>
              <a:t>Click to edit Master title style</a:t>
            </a:r>
            <a:endParaRPr lang="en-GB" dirty="0"/>
          </a:p>
        </p:txBody>
      </p:sp>
      <p:sp>
        <p:nvSpPr>
          <p:cNvPr id="7" name="Footer Placeholder 6">
            <a:extLst>
              <a:ext uri="{FF2B5EF4-FFF2-40B4-BE49-F238E27FC236}">
                <a16:creationId xmlns:a16="http://schemas.microsoft.com/office/drawing/2014/main" id="{486AE6B8-D685-CC44-94CA-5D3AF0FE9E55}"/>
              </a:ext>
            </a:extLst>
          </p:cNvPr>
          <p:cNvSpPr>
            <a:spLocks noGrp="1"/>
          </p:cNvSpPr>
          <p:nvPr>
            <p:ph type="ftr" sz="quarter" idx="3"/>
          </p:nvPr>
        </p:nvSpPr>
        <p:spPr>
          <a:xfrm>
            <a:off x="242977" y="6310313"/>
            <a:ext cx="4114800" cy="365125"/>
          </a:xfrm>
          <a:prstGeom prst="rect">
            <a:avLst/>
          </a:prstGeom>
        </p:spPr>
        <p:txBody>
          <a:bodyPr vert="horz" lIns="91440" tIns="45720" rIns="91440" bIns="45720" rtlCol="0" anchor="b"/>
          <a:lstStyle>
            <a:lvl1pPr algn="l">
              <a:defRPr sz="1600">
                <a:solidFill>
                  <a:schemeClr val="bg1"/>
                </a:solidFill>
                <a:latin typeface="Cairo" pitchFamily="2" charset="-78"/>
                <a:cs typeface="Cairo" pitchFamily="2" charset="-78"/>
              </a:defRPr>
            </a:lvl1pPr>
          </a:lstStyle>
          <a:p>
            <a:r>
              <a:rPr lang="en-GB"/>
              <a:t>Private &amp; Confidential</a:t>
            </a:r>
            <a:endParaRPr lang="en-GB" dirty="0"/>
          </a:p>
        </p:txBody>
      </p:sp>
      <p:pic>
        <p:nvPicPr>
          <p:cNvPr id="2" name="Picture 1" descr="A black background with white text&#10;&#10;Description automatically generated">
            <a:extLst>
              <a:ext uri="{FF2B5EF4-FFF2-40B4-BE49-F238E27FC236}">
                <a16:creationId xmlns:a16="http://schemas.microsoft.com/office/drawing/2014/main" id="{EC75D72B-112E-65DD-7B86-4807995302FF}"/>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123952" y="-86403"/>
            <a:ext cx="7447146" cy="2980557"/>
          </a:xfrm>
          <a:prstGeom prst="rect">
            <a:avLst/>
          </a:prstGeom>
        </p:spPr>
      </p:pic>
    </p:spTree>
    <p:extLst>
      <p:ext uri="{BB962C8B-B14F-4D97-AF65-F5344CB8AC3E}">
        <p14:creationId xmlns:p14="http://schemas.microsoft.com/office/powerpoint/2010/main" val="2909884401"/>
      </p:ext>
    </p:extLst>
  </p:cSld>
  <p:clrMap bg1="lt1" tx1="dk1" bg2="lt2" tx2="dk2" accent1="accent1" accent2="accent2" accent3="accent3" accent4="accent4" accent5="accent5" accent6="accent6" hlink="hlink" folHlink="folHlink"/>
  <p:sldLayoutIdLst>
    <p:sldLayoutId id="2147483780" r:id="rId1"/>
  </p:sldLayoutIdLst>
  <p:hf hdr="0" dt="0"/>
  <p:txStyles>
    <p:titleStyle>
      <a:lvl1pPr algn="r" defTabSz="914400" rtl="0" eaLnBrk="1" latinLnBrk="0" hangingPunct="1">
        <a:lnSpc>
          <a:spcPct val="90000"/>
        </a:lnSpc>
        <a:spcBef>
          <a:spcPct val="0"/>
        </a:spcBef>
        <a:buNone/>
        <a:defRPr sz="4800" kern="1200">
          <a:solidFill>
            <a:schemeClr val="bg1"/>
          </a:solidFill>
          <a:latin typeface="Cairo" panose="00000800000000000000" pitchFamily="2" charset="-78"/>
          <a:ea typeface="+mj-ea"/>
          <a:cs typeface="Cairo" panose="00000800000000000000" pitchFamily="2" charset="-78"/>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5" name="Picture 4" descr="A group of trees in a field with Avenue of the Baobabs in the background&#10;&#10;Description automatically generated with low confidence">
            <a:extLst>
              <a:ext uri="{FF2B5EF4-FFF2-40B4-BE49-F238E27FC236}">
                <a16:creationId xmlns:a16="http://schemas.microsoft.com/office/drawing/2014/main" id="{CDDD22C7-6321-34D0-5B02-97AE2B1EF918}"/>
              </a:ext>
            </a:extLst>
          </p:cNvPr>
          <p:cNvPicPr>
            <a:picLocks noChangeAspect="1"/>
          </p:cNvPicPr>
          <p:nvPr userDrawn="1"/>
        </p:nvPicPr>
        <p:blipFill rotWithShape="1">
          <a:blip r:embed="rId3">
            <a:duotone>
              <a:schemeClr val="accent1">
                <a:shade val="45000"/>
                <a:satMod val="135000"/>
              </a:schemeClr>
              <a:prstClr val="white"/>
            </a:duotone>
            <a:extLst>
              <a:ext uri="{28A0092B-C50C-407E-A947-70E740481C1C}">
                <a14:useLocalDpi xmlns:a14="http://schemas.microsoft.com/office/drawing/2010/main" val="0"/>
              </a:ext>
            </a:extLst>
          </a:blip>
          <a:srcRect/>
          <a:stretch/>
        </p:blipFill>
        <p:spPr>
          <a:xfrm>
            <a:off x="0" y="1"/>
            <a:ext cx="12192000" cy="6858000"/>
          </a:xfrm>
          <a:prstGeom prst="rect">
            <a:avLst/>
          </a:prstGeom>
        </p:spPr>
      </p:pic>
      <p:sp>
        <p:nvSpPr>
          <p:cNvPr id="10" name="Rectangle 9">
            <a:extLst>
              <a:ext uri="{FF2B5EF4-FFF2-40B4-BE49-F238E27FC236}">
                <a16:creationId xmlns:a16="http://schemas.microsoft.com/office/drawing/2014/main" id="{C7F00E39-CE58-492F-99A1-5C4F968636A1}"/>
              </a:ext>
            </a:extLst>
          </p:cNvPr>
          <p:cNvSpPr/>
          <p:nvPr userDrawn="1"/>
        </p:nvSpPr>
        <p:spPr bwMode="auto">
          <a:xfrm>
            <a:off x="0" y="-1"/>
            <a:ext cx="12192001" cy="6858000"/>
          </a:xfrm>
          <a:prstGeom prst="rect">
            <a:avLst/>
          </a:prstGeom>
          <a:solidFill>
            <a:srgbClr val="240B60">
              <a:alpha val="34902"/>
            </a:srgbClr>
          </a:solidFill>
          <a:ln w="25400" cap="flat" cmpd="sng" algn="ctr">
            <a:noFill/>
            <a:prstDash val="solid"/>
            <a:miter lim="0"/>
            <a:headEnd type="none" w="med" len="med"/>
            <a:tailEnd type="none" w="med" len="med"/>
          </a:ln>
          <a:effectLst>
            <a:outerShdw blurRad="38100" dist="25400" dir="5400000" algn="ctr" rotWithShape="0">
              <a:srgbClr val="000000">
                <a:alpha val="50000"/>
              </a:srgbClr>
            </a:outerShdw>
          </a:effectLst>
        </p:spPr>
        <p:txBody>
          <a:bodyPr vert="horz" wrap="square" lIns="50800" tIns="50800" rIns="50800" bIns="50800" numCol="1" rtlCol="0" anchor="ctr" anchorCtr="0" compatLnSpc="1">
            <a:prstTxWarp prst="textNoShape">
              <a:avLst/>
            </a:prstTxWarp>
          </a:bodyPr>
          <a:lstStyle/>
          <a:p>
            <a:pPr marL="228600" marR="0" indent="0" algn="ctr" defTabSz="584200" rtl="0" eaLnBrk="1" fontAlgn="base" latinLnBrk="0" hangingPunct="0">
              <a:lnSpc>
                <a:spcPct val="100000"/>
              </a:lnSpc>
              <a:spcBef>
                <a:spcPct val="0"/>
              </a:spcBef>
              <a:spcAft>
                <a:spcPct val="0"/>
              </a:spcAft>
              <a:buClrTx/>
              <a:buSzTx/>
              <a:buFontTx/>
              <a:buNone/>
              <a:tabLst/>
            </a:pPr>
            <a:endParaRPr kumimoji="0" lang="en-GB" sz="3600" b="0" i="0" u="none" strike="noStrike" cap="none" normalizeH="0" baseline="0" dirty="0">
              <a:ln>
                <a:noFill/>
              </a:ln>
              <a:solidFill>
                <a:srgbClr val="000000"/>
              </a:solidFill>
              <a:effectLst/>
              <a:latin typeface="Cairo Medium" pitchFamily="2" charset="-78"/>
              <a:ea typeface="Helvetica Light" charset="0"/>
              <a:cs typeface="Cairo Medium" pitchFamily="2" charset="-78"/>
              <a:sym typeface="Helvetica Light" charset="0"/>
            </a:endParaRPr>
          </a:p>
        </p:txBody>
      </p:sp>
      <p:cxnSp>
        <p:nvCxnSpPr>
          <p:cNvPr id="15" name="Straight Connector 14">
            <a:extLst>
              <a:ext uri="{FF2B5EF4-FFF2-40B4-BE49-F238E27FC236}">
                <a16:creationId xmlns:a16="http://schemas.microsoft.com/office/drawing/2014/main" id="{05CCCD4C-9E14-4947-9015-028A492D4646}"/>
              </a:ext>
            </a:extLst>
          </p:cNvPr>
          <p:cNvCxnSpPr>
            <a:cxnSpLocks/>
          </p:cNvCxnSpPr>
          <p:nvPr userDrawn="1"/>
        </p:nvCxnSpPr>
        <p:spPr bwMode="auto">
          <a:xfrm>
            <a:off x="6286500" y="4711329"/>
            <a:ext cx="5617330" cy="0"/>
          </a:xfrm>
          <a:prstGeom prst="line">
            <a:avLst/>
          </a:prstGeom>
          <a:blipFill dpi="0" rotWithShape="0">
            <a:blip r:embed="rId4">
              <a:extLst>
                <a:ext uri="{28A0092B-C50C-407E-A947-70E740481C1C}">
                  <a14:useLocalDpi xmlns:a14="http://schemas.microsoft.com/office/drawing/2010/main" val="0"/>
                </a:ext>
              </a:extLst>
            </a:blip>
            <a:srcRect/>
            <a:tile tx="0" ty="0" sx="100000" sy="100000" flip="none" algn="tl"/>
          </a:blipFill>
          <a:ln w="25400" cap="flat" cmpd="sng" algn="ctr">
            <a:solidFill>
              <a:srgbClr val="FFCE42"/>
            </a:solidFill>
            <a:prstDash val="solid"/>
            <a:miter lim="0"/>
            <a:headEnd type="none" w="med" len="med"/>
            <a:tailEnd type="none" w="med" len="med"/>
          </a:ln>
          <a:effectLst>
            <a:outerShdw blurRad="38100" dist="25400" dir="5400000" algn="ctr" rotWithShape="0">
              <a:srgbClr val="000000">
                <a:alpha val="50000"/>
              </a:srgbClr>
            </a:outerShdw>
          </a:effectLst>
        </p:spPr>
      </p:cxnSp>
      <p:sp>
        <p:nvSpPr>
          <p:cNvPr id="23" name="Title Placeholder 1">
            <a:extLst>
              <a:ext uri="{FF2B5EF4-FFF2-40B4-BE49-F238E27FC236}">
                <a16:creationId xmlns:a16="http://schemas.microsoft.com/office/drawing/2014/main" id="{05BAA2CE-4ED2-4645-8C83-B990879402A7}"/>
              </a:ext>
            </a:extLst>
          </p:cNvPr>
          <p:cNvSpPr>
            <a:spLocks noGrp="1"/>
          </p:cNvSpPr>
          <p:nvPr>
            <p:ph type="title"/>
          </p:nvPr>
        </p:nvSpPr>
        <p:spPr>
          <a:xfrm>
            <a:off x="6182690" y="3058025"/>
            <a:ext cx="5721140" cy="1325563"/>
          </a:xfrm>
          <a:prstGeom prst="rect">
            <a:avLst/>
          </a:prstGeom>
        </p:spPr>
        <p:txBody>
          <a:bodyPr vert="horz" lIns="91440" tIns="45720" rIns="91440" bIns="45720" rtlCol="0" anchor="ctr">
            <a:noAutofit/>
          </a:bodyPr>
          <a:lstStyle/>
          <a:p>
            <a:r>
              <a:rPr lang="en-US" dirty="0"/>
              <a:t>Click to edit Master title style</a:t>
            </a:r>
            <a:endParaRPr lang="en-GB" dirty="0"/>
          </a:p>
        </p:txBody>
      </p:sp>
      <p:sp>
        <p:nvSpPr>
          <p:cNvPr id="7" name="Footer Placeholder 6">
            <a:extLst>
              <a:ext uri="{FF2B5EF4-FFF2-40B4-BE49-F238E27FC236}">
                <a16:creationId xmlns:a16="http://schemas.microsoft.com/office/drawing/2014/main" id="{486AE6B8-D685-CC44-94CA-5D3AF0FE9E55}"/>
              </a:ext>
            </a:extLst>
          </p:cNvPr>
          <p:cNvSpPr>
            <a:spLocks noGrp="1"/>
          </p:cNvSpPr>
          <p:nvPr>
            <p:ph type="ftr" sz="quarter" idx="3"/>
          </p:nvPr>
        </p:nvSpPr>
        <p:spPr>
          <a:xfrm>
            <a:off x="242977" y="6310313"/>
            <a:ext cx="4114800" cy="365125"/>
          </a:xfrm>
          <a:prstGeom prst="rect">
            <a:avLst/>
          </a:prstGeom>
        </p:spPr>
        <p:txBody>
          <a:bodyPr vert="horz" lIns="91440" tIns="45720" rIns="91440" bIns="45720" rtlCol="0" anchor="b"/>
          <a:lstStyle>
            <a:lvl1pPr algn="l">
              <a:defRPr sz="1600">
                <a:solidFill>
                  <a:schemeClr val="bg1"/>
                </a:solidFill>
                <a:latin typeface="Cairo" pitchFamily="2" charset="-78"/>
                <a:cs typeface="Cairo" pitchFamily="2" charset="-78"/>
              </a:defRPr>
            </a:lvl1pPr>
          </a:lstStyle>
          <a:p>
            <a:r>
              <a:rPr lang="en-GB"/>
              <a:t>Private &amp; Confidential</a:t>
            </a:r>
            <a:endParaRPr lang="en-GB" dirty="0"/>
          </a:p>
        </p:txBody>
      </p:sp>
      <p:pic>
        <p:nvPicPr>
          <p:cNvPr id="2" name="Picture 1" descr="A black background with white text&#10;&#10;Description automatically generated">
            <a:extLst>
              <a:ext uri="{FF2B5EF4-FFF2-40B4-BE49-F238E27FC236}">
                <a16:creationId xmlns:a16="http://schemas.microsoft.com/office/drawing/2014/main" id="{EC75D72B-112E-65DD-7B86-4807995302FF}"/>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123952" y="-86403"/>
            <a:ext cx="7447146" cy="2980557"/>
          </a:xfrm>
          <a:prstGeom prst="rect">
            <a:avLst/>
          </a:prstGeom>
        </p:spPr>
      </p:pic>
    </p:spTree>
    <p:extLst>
      <p:ext uri="{BB962C8B-B14F-4D97-AF65-F5344CB8AC3E}">
        <p14:creationId xmlns:p14="http://schemas.microsoft.com/office/powerpoint/2010/main" val="2971429940"/>
      </p:ext>
    </p:extLst>
  </p:cSld>
  <p:clrMap bg1="lt1" tx1="dk1" bg2="lt2" tx2="dk2" accent1="accent1" accent2="accent2" accent3="accent3" accent4="accent4" accent5="accent5" accent6="accent6" hlink="hlink" folHlink="folHlink"/>
  <p:sldLayoutIdLst>
    <p:sldLayoutId id="2147483801" r:id="rId1"/>
  </p:sldLayoutIdLst>
  <p:hf hdr="0" dt="0"/>
  <p:txStyles>
    <p:titleStyle>
      <a:lvl1pPr algn="r" defTabSz="914400" rtl="0" eaLnBrk="1" latinLnBrk="0" hangingPunct="1">
        <a:lnSpc>
          <a:spcPct val="90000"/>
        </a:lnSpc>
        <a:spcBef>
          <a:spcPct val="0"/>
        </a:spcBef>
        <a:buNone/>
        <a:defRPr sz="4800" kern="1200">
          <a:solidFill>
            <a:schemeClr val="bg1"/>
          </a:solidFill>
          <a:latin typeface="Cairo" panose="00000800000000000000" pitchFamily="2" charset="-78"/>
          <a:ea typeface="+mj-ea"/>
          <a:cs typeface="Cairo" panose="00000800000000000000" pitchFamily="2" charset="-78"/>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3" name="Picture 2" descr="A picture containing outdoor, sky, cloud, landscape&#10;&#10;Description automatically generated">
            <a:extLst>
              <a:ext uri="{FF2B5EF4-FFF2-40B4-BE49-F238E27FC236}">
                <a16:creationId xmlns:a16="http://schemas.microsoft.com/office/drawing/2014/main" id="{3B5CDC08-E78B-03A5-0597-E5157A88B2D8}"/>
              </a:ext>
            </a:extLst>
          </p:cNvPr>
          <p:cNvPicPr>
            <a:picLocks noChangeAspect="1"/>
          </p:cNvPicPr>
          <p:nvPr userDrawn="1"/>
        </p:nvPicPr>
        <p:blipFill rotWithShape="1">
          <a:blip r:embed="rId3">
            <a:duotone>
              <a:schemeClr val="accent1">
                <a:shade val="45000"/>
                <a:satMod val="135000"/>
              </a:schemeClr>
              <a:prstClr val="white"/>
            </a:duotone>
            <a:extLst>
              <a:ext uri="{28A0092B-C50C-407E-A947-70E740481C1C}">
                <a14:useLocalDpi xmlns:a14="http://schemas.microsoft.com/office/drawing/2010/main" val="0"/>
              </a:ext>
            </a:extLst>
          </a:blip>
          <a:srcRect t="517"/>
          <a:stretch/>
        </p:blipFill>
        <p:spPr>
          <a:xfrm flipH="1">
            <a:off x="-3" y="0"/>
            <a:ext cx="4310742" cy="6857868"/>
          </a:xfrm>
          <a:prstGeom prst="rect">
            <a:avLst/>
          </a:prstGeom>
        </p:spPr>
      </p:pic>
      <p:sp>
        <p:nvSpPr>
          <p:cNvPr id="10" name="Rectangle 9">
            <a:extLst>
              <a:ext uri="{FF2B5EF4-FFF2-40B4-BE49-F238E27FC236}">
                <a16:creationId xmlns:a16="http://schemas.microsoft.com/office/drawing/2014/main" id="{C7F00E39-CE58-492F-99A1-5C4F968636A1}"/>
              </a:ext>
            </a:extLst>
          </p:cNvPr>
          <p:cNvSpPr/>
          <p:nvPr userDrawn="1"/>
        </p:nvSpPr>
        <p:spPr bwMode="auto">
          <a:xfrm>
            <a:off x="0" y="0"/>
            <a:ext cx="4310740" cy="6858000"/>
          </a:xfrm>
          <a:prstGeom prst="rect">
            <a:avLst/>
          </a:prstGeom>
          <a:solidFill>
            <a:srgbClr val="240B60">
              <a:alpha val="50196"/>
            </a:srgbClr>
          </a:solidFill>
          <a:ln w="25400" cap="flat" cmpd="sng" algn="ctr">
            <a:noFill/>
            <a:prstDash val="solid"/>
            <a:miter lim="0"/>
            <a:headEnd type="none" w="med" len="med"/>
            <a:tailEnd type="none" w="med" len="med"/>
          </a:ln>
          <a:effectLst>
            <a:outerShdw blurRad="38100" dist="25400" dir="5400000" algn="ctr" rotWithShape="0">
              <a:srgbClr val="000000">
                <a:alpha val="50000"/>
              </a:srgbClr>
            </a:outerShdw>
          </a:effectLst>
        </p:spPr>
        <p:txBody>
          <a:bodyPr vert="horz" wrap="square" lIns="50800" tIns="50800" rIns="50800" bIns="50800" numCol="1" rtlCol="0" anchor="ctr" anchorCtr="0" compatLnSpc="1">
            <a:prstTxWarp prst="textNoShape">
              <a:avLst/>
            </a:prstTxWarp>
          </a:bodyPr>
          <a:lstStyle/>
          <a:p>
            <a:pPr marL="228600" marR="0" indent="0" algn="ctr" defTabSz="584200" rtl="0" eaLnBrk="1" fontAlgn="base" latinLnBrk="0" hangingPunct="0">
              <a:lnSpc>
                <a:spcPct val="100000"/>
              </a:lnSpc>
              <a:spcBef>
                <a:spcPct val="0"/>
              </a:spcBef>
              <a:spcAft>
                <a:spcPct val="0"/>
              </a:spcAft>
              <a:buClrTx/>
              <a:buSzTx/>
              <a:buFontTx/>
              <a:buNone/>
              <a:tabLst/>
            </a:pPr>
            <a:endParaRPr kumimoji="0" lang="en-GB" sz="3600" b="0" i="0" u="none" strike="noStrike" cap="none" normalizeH="0" baseline="0" dirty="0">
              <a:ln>
                <a:noFill/>
              </a:ln>
              <a:solidFill>
                <a:srgbClr val="000000"/>
              </a:solidFill>
              <a:effectLst/>
              <a:latin typeface="Cairo Medium" pitchFamily="2" charset="-78"/>
              <a:ea typeface="Helvetica Light" charset="0"/>
              <a:cs typeface="Cairo Medium" pitchFamily="2" charset="-78"/>
              <a:sym typeface="Helvetica Light" charset="0"/>
            </a:endParaRPr>
          </a:p>
        </p:txBody>
      </p:sp>
      <p:cxnSp>
        <p:nvCxnSpPr>
          <p:cNvPr id="15" name="Straight Connector 14">
            <a:extLst>
              <a:ext uri="{FF2B5EF4-FFF2-40B4-BE49-F238E27FC236}">
                <a16:creationId xmlns:a16="http://schemas.microsoft.com/office/drawing/2014/main" id="{05CCCD4C-9E14-4947-9015-028A492D4646}"/>
              </a:ext>
            </a:extLst>
          </p:cNvPr>
          <p:cNvCxnSpPr>
            <a:cxnSpLocks/>
          </p:cNvCxnSpPr>
          <p:nvPr userDrawn="1"/>
        </p:nvCxnSpPr>
        <p:spPr bwMode="auto">
          <a:xfrm>
            <a:off x="4635567" y="4192583"/>
            <a:ext cx="7556433" cy="0"/>
          </a:xfrm>
          <a:prstGeom prst="line">
            <a:avLst/>
          </a:prstGeom>
          <a:blipFill dpi="0" rotWithShape="0">
            <a:blip r:embed="rId4">
              <a:extLst>
                <a:ext uri="{28A0092B-C50C-407E-A947-70E740481C1C}">
                  <a14:useLocalDpi xmlns:a14="http://schemas.microsoft.com/office/drawing/2010/main" val="0"/>
                </a:ext>
              </a:extLst>
            </a:blip>
            <a:srcRect/>
            <a:tile tx="0" ty="0" sx="100000" sy="100000" flip="none" algn="tl"/>
          </a:blipFill>
          <a:ln w="25400" cap="flat" cmpd="sng" algn="ctr">
            <a:solidFill>
              <a:srgbClr val="FFCE42"/>
            </a:solidFill>
            <a:prstDash val="solid"/>
            <a:miter lim="0"/>
            <a:headEnd type="none" w="med" len="med"/>
            <a:tailEnd type="none" w="med" len="med"/>
          </a:ln>
          <a:effectLst>
            <a:outerShdw blurRad="38100" dist="25400" dir="5400000" algn="ctr" rotWithShape="0">
              <a:srgbClr val="000000">
                <a:alpha val="50000"/>
              </a:srgbClr>
            </a:outerShdw>
          </a:effectLst>
        </p:spPr>
      </p:cxnSp>
      <p:sp>
        <p:nvSpPr>
          <p:cNvPr id="23" name="Title Placeholder 1">
            <a:extLst>
              <a:ext uri="{FF2B5EF4-FFF2-40B4-BE49-F238E27FC236}">
                <a16:creationId xmlns:a16="http://schemas.microsoft.com/office/drawing/2014/main" id="{05BAA2CE-4ED2-4645-8C83-B990879402A7}"/>
              </a:ext>
            </a:extLst>
          </p:cNvPr>
          <p:cNvSpPr>
            <a:spLocks noGrp="1"/>
          </p:cNvSpPr>
          <p:nvPr>
            <p:ph type="title"/>
          </p:nvPr>
        </p:nvSpPr>
        <p:spPr>
          <a:xfrm>
            <a:off x="4635567" y="3493700"/>
            <a:ext cx="7556433" cy="661363"/>
          </a:xfrm>
          <a:prstGeom prst="rect">
            <a:avLst/>
          </a:prstGeom>
        </p:spPr>
        <p:txBody>
          <a:bodyPr vert="horz" lIns="91440" tIns="45720" rIns="91440" bIns="45720" rtlCol="0" anchor="b">
            <a:noAutofit/>
          </a:bodyPr>
          <a:lstStyle/>
          <a:p>
            <a:r>
              <a:rPr lang="en-US" dirty="0"/>
              <a:t>Click to edit Master title style</a:t>
            </a:r>
            <a:endParaRPr lang="en-GB" dirty="0"/>
          </a:p>
        </p:txBody>
      </p:sp>
      <p:sp>
        <p:nvSpPr>
          <p:cNvPr id="2" name="Footer Placeholder 1">
            <a:extLst>
              <a:ext uri="{FF2B5EF4-FFF2-40B4-BE49-F238E27FC236}">
                <a16:creationId xmlns:a16="http://schemas.microsoft.com/office/drawing/2014/main" id="{397D8803-ED1B-2C60-E1AC-BD7199F552AF}"/>
              </a:ext>
            </a:extLst>
          </p:cNvPr>
          <p:cNvSpPr>
            <a:spLocks noGrp="1"/>
          </p:cNvSpPr>
          <p:nvPr>
            <p:ph type="ftr" sz="quarter" idx="3"/>
          </p:nvPr>
        </p:nvSpPr>
        <p:spPr>
          <a:xfrm>
            <a:off x="97968" y="6371140"/>
            <a:ext cx="4114800" cy="365125"/>
          </a:xfrm>
          <a:prstGeom prst="rect">
            <a:avLst/>
          </a:prstGeom>
        </p:spPr>
        <p:txBody>
          <a:bodyPr vert="horz" lIns="91440" tIns="45720" rIns="91440" bIns="45720" rtlCol="0" anchor="ctr"/>
          <a:lstStyle>
            <a:lvl1pPr algn="ctr">
              <a:defRPr sz="1600" b="0">
                <a:solidFill>
                  <a:schemeClr val="bg1"/>
                </a:solidFill>
                <a:latin typeface="Cairo" pitchFamily="2" charset="-78"/>
                <a:cs typeface="Cairo" pitchFamily="2" charset="-78"/>
              </a:defRPr>
            </a:lvl1pPr>
          </a:lstStyle>
          <a:p>
            <a:r>
              <a:rPr lang="en-US"/>
              <a:t>Private &amp; Confidential</a:t>
            </a:r>
            <a:endParaRPr lang="en-GB" dirty="0"/>
          </a:p>
        </p:txBody>
      </p:sp>
      <p:pic>
        <p:nvPicPr>
          <p:cNvPr id="6" name="Picture 5" descr="A yellow map in a circle&#10;&#10;Description automatically generated">
            <a:extLst>
              <a:ext uri="{FF2B5EF4-FFF2-40B4-BE49-F238E27FC236}">
                <a16:creationId xmlns:a16="http://schemas.microsoft.com/office/drawing/2014/main" id="{F2A9F739-503A-9464-7588-814496229F58}"/>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47671" y="1140010"/>
            <a:ext cx="4215393" cy="4279401"/>
          </a:xfrm>
          <a:prstGeom prst="rect">
            <a:avLst/>
          </a:prstGeom>
        </p:spPr>
      </p:pic>
      <p:pic>
        <p:nvPicPr>
          <p:cNvPr id="9" name="Picture 8" descr="A black background with blue text&#10;&#10;Description automatically generated">
            <a:extLst>
              <a:ext uri="{FF2B5EF4-FFF2-40B4-BE49-F238E27FC236}">
                <a16:creationId xmlns:a16="http://schemas.microsoft.com/office/drawing/2014/main" id="{8C2E7AC6-87E3-1953-639B-14EFD5399E1C}"/>
              </a:ext>
            </a:extLst>
          </p:cNvPr>
          <p:cNvPicPr>
            <a:picLocks noChangeAspect="1"/>
          </p:cNvPicPr>
          <p:nvPr userDrawn="1"/>
        </p:nvPicPr>
        <p:blipFill>
          <a:blip r:embed="rId6">
            <a:extLst>
              <a:ext uri="{28A0092B-C50C-407E-A947-70E740481C1C}">
                <a14:useLocalDpi xmlns:a14="http://schemas.microsoft.com/office/drawing/2010/main" val="0"/>
              </a:ext>
            </a:extLst>
          </a:blip>
          <a:srcRect l="6417" t="16729" r="5700" b="18523"/>
          <a:stretch/>
        </p:blipFill>
        <p:spPr>
          <a:xfrm>
            <a:off x="8795662" y="5789410"/>
            <a:ext cx="3396338" cy="1001469"/>
          </a:xfrm>
          <a:prstGeom prst="rect">
            <a:avLst/>
          </a:prstGeom>
        </p:spPr>
      </p:pic>
    </p:spTree>
    <p:extLst>
      <p:ext uri="{BB962C8B-B14F-4D97-AF65-F5344CB8AC3E}">
        <p14:creationId xmlns:p14="http://schemas.microsoft.com/office/powerpoint/2010/main" val="1833536716"/>
      </p:ext>
    </p:extLst>
  </p:cSld>
  <p:clrMap bg1="lt1" tx1="dk1" bg2="lt2" tx2="dk2" accent1="accent1" accent2="accent2" accent3="accent3" accent4="accent4" accent5="accent5" accent6="accent6" hlink="hlink" folHlink="folHlink"/>
  <p:sldLayoutIdLst>
    <p:sldLayoutId id="2147483778" r:id="rId1"/>
  </p:sldLayoutIdLst>
  <p:hf hdr="0" dt="0"/>
  <p:txStyles>
    <p:titleStyle>
      <a:lvl1pPr algn="l" defTabSz="914400" rtl="0" eaLnBrk="1" latinLnBrk="0" hangingPunct="1">
        <a:lnSpc>
          <a:spcPct val="90000"/>
        </a:lnSpc>
        <a:spcBef>
          <a:spcPct val="0"/>
        </a:spcBef>
        <a:buNone/>
        <a:defRPr sz="4800" kern="1200">
          <a:solidFill>
            <a:srgbClr val="240B60"/>
          </a:solidFill>
          <a:latin typeface="Cairo" panose="00000800000000000000" pitchFamily="2" charset="-78"/>
          <a:ea typeface="+mj-ea"/>
          <a:cs typeface="Cairo" panose="00000800000000000000" pitchFamily="2" charset="-78"/>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16" name="Picture 15" descr="A black background with blue text&#10;&#10;Description automatically generated">
            <a:extLst>
              <a:ext uri="{FF2B5EF4-FFF2-40B4-BE49-F238E27FC236}">
                <a16:creationId xmlns:a16="http://schemas.microsoft.com/office/drawing/2014/main" id="{984A669B-A943-0719-36BE-622F2C121305}"/>
              </a:ext>
            </a:extLst>
          </p:cNvPr>
          <p:cNvPicPr>
            <a:picLocks noChangeAspect="1"/>
          </p:cNvPicPr>
          <p:nvPr userDrawn="1"/>
        </p:nvPicPr>
        <p:blipFill rotWithShape="1">
          <a:blip r:embed="rId6">
            <a:alphaModFix amt="5000"/>
            <a:extLst>
              <a:ext uri="{28A0092B-C50C-407E-A947-70E740481C1C}">
                <a14:useLocalDpi xmlns:a14="http://schemas.microsoft.com/office/drawing/2010/main" val="0"/>
              </a:ext>
            </a:extLst>
          </a:blip>
          <a:srcRect l="-341" t="-189" r="668" b="-122"/>
          <a:stretch/>
        </p:blipFill>
        <p:spPr>
          <a:xfrm>
            <a:off x="6534887" y="-286656"/>
            <a:ext cx="6933334" cy="7144656"/>
          </a:xfrm>
          <a:prstGeom prst="rect">
            <a:avLst/>
          </a:prstGeom>
        </p:spPr>
      </p:pic>
      <p:sp>
        <p:nvSpPr>
          <p:cNvPr id="7" name="Rectangle 6">
            <a:extLst>
              <a:ext uri="{FF2B5EF4-FFF2-40B4-BE49-F238E27FC236}">
                <a16:creationId xmlns:a16="http://schemas.microsoft.com/office/drawing/2014/main" id="{10C29E46-F416-4CF1-A43D-B28EA939B133}"/>
              </a:ext>
            </a:extLst>
          </p:cNvPr>
          <p:cNvSpPr/>
          <p:nvPr userDrawn="1"/>
        </p:nvSpPr>
        <p:spPr bwMode="auto">
          <a:xfrm rot="5400000">
            <a:off x="5797360" y="463360"/>
            <a:ext cx="597281" cy="12191999"/>
          </a:xfrm>
          <a:prstGeom prst="rect">
            <a:avLst/>
          </a:prstGeom>
          <a:solidFill>
            <a:srgbClr val="240B60"/>
          </a:solidFill>
          <a:ln w="25400" cap="flat" cmpd="sng" algn="ctr">
            <a:noFill/>
            <a:prstDash val="solid"/>
            <a:miter lim="0"/>
            <a:headEnd type="none" w="med" len="med"/>
            <a:tailEnd type="none" w="med" len="med"/>
          </a:ln>
          <a:effectLst>
            <a:outerShdw blurRad="38100" dist="25400" dir="5400000" algn="ctr" rotWithShape="0">
              <a:srgbClr val="000000">
                <a:alpha val="50000"/>
              </a:srgbClr>
            </a:outerShdw>
          </a:effectLst>
        </p:spPr>
        <p:txBody>
          <a:bodyPr vert="horz" wrap="square" lIns="50800" tIns="50800" rIns="50800" bIns="50800" numCol="1" rtlCol="0" anchor="ctr" anchorCtr="0" compatLnSpc="1">
            <a:prstTxWarp prst="textNoShape">
              <a:avLst/>
            </a:prstTxWarp>
          </a:bodyPr>
          <a:lstStyle/>
          <a:p>
            <a:pPr marL="228600" marR="0" indent="0" algn="ctr" defTabSz="584200" rtl="0" eaLnBrk="1" fontAlgn="base" latinLnBrk="0" hangingPunct="0">
              <a:lnSpc>
                <a:spcPct val="100000"/>
              </a:lnSpc>
              <a:spcBef>
                <a:spcPct val="0"/>
              </a:spcBef>
              <a:spcAft>
                <a:spcPct val="0"/>
              </a:spcAft>
              <a:buClrTx/>
              <a:buSzTx/>
              <a:buFontTx/>
              <a:buNone/>
              <a:tabLst/>
            </a:pPr>
            <a:endParaRPr kumimoji="0" lang="en-GB" sz="3600" b="0" i="0" u="none" strike="noStrike" cap="none" normalizeH="0" baseline="0" dirty="0">
              <a:ln>
                <a:noFill/>
              </a:ln>
              <a:solidFill>
                <a:srgbClr val="000000"/>
              </a:solidFill>
              <a:effectLst/>
              <a:latin typeface="Cairo Medium" pitchFamily="2" charset="-78"/>
              <a:ea typeface="Helvetica Light" charset="0"/>
              <a:cs typeface="Cairo Medium" pitchFamily="2" charset="-78"/>
              <a:sym typeface="Helvetica Light" charset="0"/>
            </a:endParaRPr>
          </a:p>
        </p:txBody>
      </p:sp>
      <p:sp>
        <p:nvSpPr>
          <p:cNvPr id="2" name="Title Placeholder 1">
            <a:extLst>
              <a:ext uri="{FF2B5EF4-FFF2-40B4-BE49-F238E27FC236}">
                <a16:creationId xmlns:a16="http://schemas.microsoft.com/office/drawing/2014/main" id="{363D4113-4427-4070-BFB9-7A0D39FC52F1}"/>
              </a:ext>
            </a:extLst>
          </p:cNvPr>
          <p:cNvSpPr>
            <a:spLocks noGrp="1"/>
          </p:cNvSpPr>
          <p:nvPr>
            <p:ph type="title"/>
          </p:nvPr>
        </p:nvSpPr>
        <p:spPr>
          <a:xfrm>
            <a:off x="713433" y="681781"/>
            <a:ext cx="10765134" cy="614326"/>
          </a:xfrm>
          <a:prstGeom prst="rect">
            <a:avLst/>
          </a:prstGeom>
        </p:spPr>
        <p:txBody>
          <a:bodyPr vert="horz" lIns="91440" tIns="45720" rIns="91440" bIns="45720" rtlCol="0" anchor="ctr">
            <a:normAutofit/>
          </a:bodyPr>
          <a:lstStyle/>
          <a:p>
            <a:r>
              <a:rPr lang="en-US" dirty="0"/>
              <a:t>Click to edit Master title style</a:t>
            </a:r>
            <a:endParaRPr lang="en-GB" dirty="0"/>
          </a:p>
        </p:txBody>
      </p:sp>
      <p:sp>
        <p:nvSpPr>
          <p:cNvPr id="10" name="Slide Number Placeholder 9">
            <a:extLst>
              <a:ext uri="{FF2B5EF4-FFF2-40B4-BE49-F238E27FC236}">
                <a16:creationId xmlns:a16="http://schemas.microsoft.com/office/drawing/2014/main" id="{6B582696-EC66-7A59-CC53-6A8C99AF884E}"/>
              </a:ext>
            </a:extLst>
          </p:cNvPr>
          <p:cNvSpPr>
            <a:spLocks noGrp="1"/>
          </p:cNvSpPr>
          <p:nvPr>
            <p:ph type="sldNum" sz="quarter" idx="4"/>
          </p:nvPr>
        </p:nvSpPr>
        <p:spPr>
          <a:xfrm>
            <a:off x="4724398" y="6376796"/>
            <a:ext cx="2743200" cy="365125"/>
          </a:xfrm>
          <a:prstGeom prst="rect">
            <a:avLst/>
          </a:prstGeom>
        </p:spPr>
        <p:txBody>
          <a:bodyPr vert="horz" lIns="91440" tIns="45720" rIns="91440" bIns="45720" rtlCol="0" anchor="ctr"/>
          <a:lstStyle>
            <a:lvl1pPr algn="ctr">
              <a:defRPr sz="1100">
                <a:solidFill>
                  <a:schemeClr val="bg1"/>
                </a:solidFill>
                <a:latin typeface="Avenir Next LT Pro" panose="020B0504020202020204" pitchFamily="34" charset="0"/>
              </a:defRPr>
            </a:lvl1pPr>
          </a:lstStyle>
          <a:p>
            <a:fld id="{2870BB4D-683F-4BE4-9264-B05BE7781C96}" type="slidenum">
              <a:rPr lang="en-GB" smtClean="0"/>
              <a:pPr/>
              <a:t>‹#›</a:t>
            </a:fld>
            <a:endParaRPr lang="en-GB"/>
          </a:p>
        </p:txBody>
      </p:sp>
      <p:sp>
        <p:nvSpPr>
          <p:cNvPr id="11" name="Footer Placeholder 10">
            <a:extLst>
              <a:ext uri="{FF2B5EF4-FFF2-40B4-BE49-F238E27FC236}">
                <a16:creationId xmlns:a16="http://schemas.microsoft.com/office/drawing/2014/main" id="{F88186B2-AFF8-D1DD-9C8E-C43D3B90389E}"/>
              </a:ext>
            </a:extLst>
          </p:cNvPr>
          <p:cNvSpPr>
            <a:spLocks noGrp="1"/>
          </p:cNvSpPr>
          <p:nvPr>
            <p:ph type="ftr" sz="quarter" idx="3"/>
          </p:nvPr>
        </p:nvSpPr>
        <p:spPr>
          <a:xfrm>
            <a:off x="181063" y="6370377"/>
            <a:ext cx="4114800" cy="365125"/>
          </a:xfrm>
          <a:prstGeom prst="rect">
            <a:avLst/>
          </a:prstGeom>
        </p:spPr>
        <p:txBody>
          <a:bodyPr vert="horz" lIns="91440" tIns="45720" rIns="91440" bIns="45720" rtlCol="0" anchor="ctr"/>
          <a:lstStyle>
            <a:lvl1pPr algn="l">
              <a:defRPr sz="1200">
                <a:solidFill>
                  <a:schemeClr val="bg1"/>
                </a:solidFill>
                <a:latin typeface="Cairo" pitchFamily="2" charset="-78"/>
                <a:cs typeface="Cairo" pitchFamily="2" charset="-78"/>
              </a:defRPr>
            </a:lvl1pPr>
          </a:lstStyle>
          <a:p>
            <a:r>
              <a:rPr lang="en-GB"/>
              <a:t>Private &amp; Confidential</a:t>
            </a:r>
            <a:endParaRPr lang="en-GB" dirty="0"/>
          </a:p>
        </p:txBody>
      </p:sp>
      <p:cxnSp>
        <p:nvCxnSpPr>
          <p:cNvPr id="18" name="Straight Connector 17">
            <a:extLst>
              <a:ext uri="{FF2B5EF4-FFF2-40B4-BE49-F238E27FC236}">
                <a16:creationId xmlns:a16="http://schemas.microsoft.com/office/drawing/2014/main" id="{6F42D082-820C-43EF-034A-243CA7B04BC1}"/>
              </a:ext>
            </a:extLst>
          </p:cNvPr>
          <p:cNvCxnSpPr/>
          <p:nvPr userDrawn="1"/>
        </p:nvCxnSpPr>
        <p:spPr>
          <a:xfrm>
            <a:off x="713433" y="1256044"/>
            <a:ext cx="10781881" cy="0"/>
          </a:xfrm>
          <a:prstGeom prst="line">
            <a:avLst/>
          </a:prstGeom>
          <a:ln w="34925">
            <a:solidFill>
              <a:srgbClr val="FFCE42"/>
            </a:solidFill>
          </a:ln>
        </p:spPr>
        <p:style>
          <a:lnRef idx="1">
            <a:schemeClr val="accent1"/>
          </a:lnRef>
          <a:fillRef idx="0">
            <a:schemeClr val="accent1"/>
          </a:fillRef>
          <a:effectRef idx="0">
            <a:schemeClr val="accent1"/>
          </a:effectRef>
          <a:fontRef idx="minor">
            <a:schemeClr val="tx1"/>
          </a:fontRef>
        </p:style>
      </p:cxnSp>
      <p:pic>
        <p:nvPicPr>
          <p:cNvPr id="3" name="Picture 2" descr="A black background with white text&#10;&#10;Description automatically generated">
            <a:extLst>
              <a:ext uri="{FF2B5EF4-FFF2-40B4-BE49-F238E27FC236}">
                <a16:creationId xmlns:a16="http://schemas.microsoft.com/office/drawing/2014/main" id="{01E27C56-084E-6158-89D1-5A25E5113AD9}"/>
              </a:ext>
            </a:extLst>
          </p:cNvPr>
          <p:cNvPicPr>
            <a:picLocks noChangeAspect="1"/>
          </p:cNvPicPr>
          <p:nvPr userDrawn="1"/>
        </p:nvPicPr>
        <p:blipFill>
          <a:blip r:embed="rId7">
            <a:extLst>
              <a:ext uri="{28A0092B-C50C-407E-A947-70E740481C1C}">
                <a14:useLocalDpi xmlns:a14="http://schemas.microsoft.com/office/drawing/2010/main" val="0"/>
              </a:ext>
            </a:extLst>
          </a:blip>
          <a:srcRect l="6220" t="17046" r="6737" b="12824"/>
          <a:stretch/>
        </p:blipFill>
        <p:spPr>
          <a:xfrm>
            <a:off x="10117317" y="6260719"/>
            <a:ext cx="2006431" cy="647000"/>
          </a:xfrm>
          <a:prstGeom prst="rect">
            <a:avLst/>
          </a:prstGeom>
        </p:spPr>
      </p:pic>
    </p:spTree>
    <p:extLst>
      <p:ext uri="{BB962C8B-B14F-4D97-AF65-F5344CB8AC3E}">
        <p14:creationId xmlns:p14="http://schemas.microsoft.com/office/powerpoint/2010/main" val="1378213939"/>
      </p:ext>
    </p:extLst>
  </p:cSld>
  <p:clrMap bg1="lt1" tx1="dk1" bg2="lt2" tx2="dk2" accent1="accent1" accent2="accent2" accent3="accent3" accent4="accent4" accent5="accent5" accent6="accent6" hlink="hlink" folHlink="folHlink"/>
  <p:sldLayoutIdLst>
    <p:sldLayoutId id="2147483793" r:id="rId1"/>
    <p:sldLayoutId id="2147483794" r:id="rId2"/>
    <p:sldLayoutId id="2147483795" r:id="rId3"/>
    <p:sldLayoutId id="2147483797" r:id="rId4"/>
  </p:sldLayoutIdLst>
  <p:hf hdr="0" dt="0"/>
  <p:txStyles>
    <p:titleStyle>
      <a:lvl1pPr algn="l" defTabSz="914400" rtl="0" eaLnBrk="1" latinLnBrk="0" hangingPunct="1">
        <a:lnSpc>
          <a:spcPct val="90000"/>
        </a:lnSpc>
        <a:spcBef>
          <a:spcPct val="0"/>
        </a:spcBef>
        <a:buNone/>
        <a:defRPr sz="3600" b="1" kern="1200">
          <a:solidFill>
            <a:srgbClr val="240B60"/>
          </a:solidFill>
          <a:latin typeface="Cairo Medium" pitchFamily="2" charset="-78"/>
          <a:ea typeface="+mj-ea"/>
          <a:cs typeface="Cairo Medium" pitchFamily="2" charset="-78"/>
        </a:defRPr>
      </a:lvl1pPr>
    </p:titleStyle>
    <p:bodyStyle>
      <a:lvl1pPr marL="228600" indent="-228600" algn="l" defTabSz="914400" rtl="0" eaLnBrk="1" latinLnBrk="0" hangingPunct="1">
        <a:lnSpc>
          <a:spcPct val="90000"/>
        </a:lnSpc>
        <a:spcBef>
          <a:spcPts val="1000"/>
        </a:spcBef>
        <a:buClr>
          <a:srgbClr val="240B60"/>
        </a:buClr>
        <a:buFont typeface="Arial" panose="020B0604020202020204" pitchFamily="34" charset="0"/>
        <a:buChar char="•"/>
        <a:defRPr sz="2800" kern="1200">
          <a:solidFill>
            <a:schemeClr val="tx1"/>
          </a:solidFill>
          <a:latin typeface="Avenir Next LT Pro" panose="020B0504020202020204" pitchFamily="34" charset="0"/>
          <a:ea typeface="+mn-ea"/>
          <a:cs typeface="+mn-cs"/>
        </a:defRPr>
      </a:lvl1pPr>
      <a:lvl2pPr marL="685800" indent="-228600" algn="l" defTabSz="914400" rtl="0" eaLnBrk="1" latinLnBrk="0" hangingPunct="1">
        <a:lnSpc>
          <a:spcPct val="90000"/>
        </a:lnSpc>
        <a:spcBef>
          <a:spcPts val="500"/>
        </a:spcBef>
        <a:buClr>
          <a:srgbClr val="240B60"/>
        </a:buClr>
        <a:buSzPct val="60000"/>
        <a:buFont typeface="Courier New" panose="02070309020205020404" pitchFamily="49" charset="0"/>
        <a:buChar char="o"/>
        <a:defRPr sz="2400" kern="1200">
          <a:solidFill>
            <a:schemeClr val="tx1"/>
          </a:solidFill>
          <a:latin typeface="Avenir Next LT Pro" panose="020B0504020202020204" pitchFamily="34" charset="0"/>
          <a:ea typeface="+mn-ea"/>
          <a:cs typeface="+mn-cs"/>
        </a:defRPr>
      </a:lvl2pPr>
      <a:lvl3pPr marL="1143000" indent="-228600" algn="l" defTabSz="914400" rtl="0" eaLnBrk="1" latinLnBrk="0" hangingPunct="1">
        <a:lnSpc>
          <a:spcPct val="90000"/>
        </a:lnSpc>
        <a:spcBef>
          <a:spcPts val="500"/>
        </a:spcBef>
        <a:buClr>
          <a:srgbClr val="240B60"/>
        </a:buClr>
        <a:buSzPct val="80000"/>
        <a:buFont typeface="Wingdings" panose="05000000000000000000" pitchFamily="2" charset="2"/>
        <a:buChar char="§"/>
        <a:defRPr sz="2000" kern="1200">
          <a:solidFill>
            <a:schemeClr val="tx1"/>
          </a:solidFill>
          <a:latin typeface="Avenir Next LT Pro" panose="020B0504020202020204" pitchFamily="34" charset="0"/>
          <a:ea typeface="+mn-ea"/>
          <a:cs typeface="+mn-cs"/>
        </a:defRPr>
      </a:lvl3pPr>
      <a:lvl4pPr marL="1600200" indent="-228600" algn="l" defTabSz="914400" rtl="0" eaLnBrk="1" latinLnBrk="0" hangingPunct="1">
        <a:lnSpc>
          <a:spcPct val="90000"/>
        </a:lnSpc>
        <a:spcBef>
          <a:spcPts val="500"/>
        </a:spcBef>
        <a:buClr>
          <a:srgbClr val="240B60"/>
        </a:buClr>
        <a:buSzPct val="50000"/>
        <a:buFont typeface="Calibri" panose="020F0502020204030204" pitchFamily="34" charset="0"/>
        <a:buChar char="□"/>
        <a:defRPr sz="1800" kern="1200">
          <a:solidFill>
            <a:schemeClr val="tx1"/>
          </a:solidFill>
          <a:latin typeface="Avenir Next LT Pro" panose="020B0504020202020204" pitchFamily="34" charset="0"/>
          <a:ea typeface="+mn-ea"/>
          <a:cs typeface="+mn-cs"/>
        </a:defRPr>
      </a:lvl4pPr>
      <a:lvl5pPr marL="2057400" indent="-228600" algn="l" defTabSz="914400" rtl="0" eaLnBrk="1" latinLnBrk="0" hangingPunct="1">
        <a:lnSpc>
          <a:spcPct val="90000"/>
        </a:lnSpc>
        <a:spcBef>
          <a:spcPts val="500"/>
        </a:spcBef>
        <a:buClr>
          <a:srgbClr val="240B60"/>
        </a:buClr>
        <a:buFont typeface="Calibri" panose="020F0502020204030204" pitchFamily="34" charset="0"/>
        <a:buChar char="–"/>
        <a:defRPr sz="1800" kern="1200">
          <a:solidFill>
            <a:schemeClr val="tx1"/>
          </a:solidFill>
          <a:latin typeface="Avenir Next LT Pro" panose="020B05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39C711A-5103-EB6E-87C1-5CDE68C49EEE}"/>
              </a:ext>
            </a:extLst>
          </p:cNvPr>
          <p:cNvSpPr/>
          <p:nvPr userDrawn="1"/>
        </p:nvSpPr>
        <p:spPr bwMode="auto">
          <a:xfrm>
            <a:off x="0" y="0"/>
            <a:ext cx="12192000" cy="6858000"/>
          </a:xfrm>
          <a:prstGeom prst="rect">
            <a:avLst/>
          </a:prstGeom>
          <a:solidFill>
            <a:srgbClr val="240B60"/>
          </a:solidFill>
          <a:ln w="25400" cap="flat" cmpd="sng" algn="ctr">
            <a:noFill/>
            <a:prstDash val="solid"/>
            <a:miter lim="0"/>
            <a:headEnd type="none" w="med" len="med"/>
            <a:tailEnd type="none" w="med" len="med"/>
          </a:ln>
          <a:effectLst>
            <a:outerShdw blurRad="38100" dist="25400" dir="5400000" algn="ctr" rotWithShape="0">
              <a:srgbClr val="000000">
                <a:alpha val="50000"/>
              </a:srgbClr>
            </a:outerShdw>
          </a:effectLst>
        </p:spPr>
        <p:txBody>
          <a:bodyPr vert="horz" wrap="square" lIns="50800" tIns="50800" rIns="50800" bIns="50800" numCol="1" rtlCol="0" anchor="ctr" anchorCtr="0" compatLnSpc="1">
            <a:prstTxWarp prst="textNoShape">
              <a:avLst/>
            </a:prstTxWarp>
          </a:bodyPr>
          <a:lstStyle/>
          <a:p>
            <a:pPr marL="228600" marR="0" lvl="0" indent="0" algn="ctr" defTabSz="584200" rtl="0" eaLnBrk="1" fontAlgn="base" latinLnBrk="0" hangingPunct="0">
              <a:lnSpc>
                <a:spcPct val="100000"/>
              </a:lnSpc>
              <a:spcBef>
                <a:spcPct val="0"/>
              </a:spcBef>
              <a:spcAft>
                <a:spcPct val="0"/>
              </a:spcAft>
              <a:buClrTx/>
              <a:buSzTx/>
              <a:buFontTx/>
              <a:buNone/>
              <a:tabLst/>
              <a:defRPr/>
            </a:pPr>
            <a:endParaRPr kumimoji="0" lang="en-GB" sz="3600" b="0" i="0" u="none" strike="noStrike" kern="1200" cap="none" spc="0" normalizeH="0" baseline="0" noProof="0" dirty="0">
              <a:ln>
                <a:noFill/>
              </a:ln>
              <a:solidFill>
                <a:srgbClr val="000000"/>
              </a:solidFill>
              <a:effectLst/>
              <a:uLnTx/>
              <a:uFillTx/>
              <a:latin typeface="Cairo Medium" pitchFamily="2" charset="-78"/>
              <a:ea typeface="Helvetica Light" charset="0"/>
              <a:cs typeface="Cairo Medium" pitchFamily="2" charset="-78"/>
              <a:sym typeface="Helvetica Light" charset="0"/>
            </a:endParaRPr>
          </a:p>
        </p:txBody>
      </p:sp>
      <p:sp>
        <p:nvSpPr>
          <p:cNvPr id="11" name="Footer Placeholder 10">
            <a:extLst>
              <a:ext uri="{FF2B5EF4-FFF2-40B4-BE49-F238E27FC236}">
                <a16:creationId xmlns:a16="http://schemas.microsoft.com/office/drawing/2014/main" id="{15FB1AF6-3A3A-0133-5F14-44D61FF3A81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a:defRPr/>
            </a:pPr>
            <a:r>
              <a:rPr lang="en-GB" sz="1800">
                <a:solidFill>
                  <a:srgbClr val="FFFFFF"/>
                </a:solidFill>
                <a:latin typeface="Cairo" panose="00000800000000000000" pitchFamily="2" charset="-78"/>
                <a:cs typeface="Cairo" panose="00000800000000000000" pitchFamily="2" charset="-78"/>
              </a:rPr>
              <a:t>Private &amp; Confidential</a:t>
            </a:r>
            <a:endParaRPr lang="en-GB" sz="1800" dirty="0">
              <a:solidFill>
                <a:srgbClr val="FFFFFF"/>
              </a:solidFill>
              <a:latin typeface="Cairo" panose="00000800000000000000" pitchFamily="2" charset="-78"/>
              <a:cs typeface="Cairo" panose="00000800000000000000" pitchFamily="2" charset="-78"/>
            </a:endParaRPr>
          </a:p>
        </p:txBody>
      </p:sp>
      <p:pic>
        <p:nvPicPr>
          <p:cNvPr id="5" name="Picture 4" descr="A yellow map in a circle&#10;&#10;Description automatically generated">
            <a:extLst>
              <a:ext uri="{FF2B5EF4-FFF2-40B4-BE49-F238E27FC236}">
                <a16:creationId xmlns:a16="http://schemas.microsoft.com/office/drawing/2014/main" id="{BA04368A-9989-5DF7-3E72-15F9084A84B9}"/>
              </a:ext>
            </a:extLst>
          </p:cNvPr>
          <p:cNvPicPr>
            <a:picLocks noChangeAspect="1"/>
          </p:cNvPicPr>
          <p:nvPr userDrawn="1"/>
        </p:nvPicPr>
        <p:blipFill>
          <a:blip r:embed="rId3">
            <a:extLst>
              <a:ext uri="{28A0092B-C50C-407E-A947-70E740481C1C}">
                <a14:useLocalDpi xmlns:a14="http://schemas.microsoft.com/office/drawing/2010/main" val="0"/>
              </a:ext>
            </a:extLst>
          </a:blip>
          <a:srcRect l="20674" t="19986" r="17359" b="18698"/>
          <a:stretch/>
        </p:blipFill>
        <p:spPr>
          <a:xfrm>
            <a:off x="4151086" y="1306286"/>
            <a:ext cx="4002314" cy="4020457"/>
          </a:xfrm>
          <a:prstGeom prst="rect">
            <a:avLst/>
          </a:prstGeom>
        </p:spPr>
      </p:pic>
    </p:spTree>
    <p:extLst>
      <p:ext uri="{BB962C8B-B14F-4D97-AF65-F5344CB8AC3E}">
        <p14:creationId xmlns:p14="http://schemas.microsoft.com/office/powerpoint/2010/main" val="3289503451"/>
      </p:ext>
    </p:extLst>
  </p:cSld>
  <p:clrMap bg1="lt1" tx1="dk1" bg2="lt2" tx2="dk2" accent1="accent1" accent2="accent2" accent3="accent3" accent4="accent4" accent5="accent5" accent6="accent6" hlink="hlink" folHlink="folHlink"/>
  <p:sldLayoutIdLst>
    <p:sldLayoutId id="2147483648" r:id="rId1"/>
  </p:sldLayoutIdLst>
  <p:hf hdr="0" dt="0"/>
  <p:txStyles>
    <p:titleStyle>
      <a:lvl1pPr algn="l" defTabSz="914400" rtl="0" eaLnBrk="1" latinLnBrk="0" hangingPunct="1">
        <a:lnSpc>
          <a:spcPct val="90000"/>
        </a:lnSpc>
        <a:spcBef>
          <a:spcPct val="0"/>
        </a:spcBef>
        <a:buNone/>
        <a:defRPr sz="4800" kern="1200">
          <a:solidFill>
            <a:srgbClr val="240B60"/>
          </a:solidFill>
          <a:latin typeface="Cairo" panose="00000800000000000000" pitchFamily="2" charset="-78"/>
          <a:ea typeface="+mj-ea"/>
          <a:cs typeface="Cairo" panose="00000800000000000000" pitchFamily="2" charset="-78"/>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5.xml"/><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DA27084E-ABB9-44FA-7331-AA8D4EAA79AB}"/>
              </a:ext>
            </a:extLst>
          </p:cNvPr>
          <p:cNvSpPr>
            <a:spLocks noGrp="1"/>
          </p:cNvSpPr>
          <p:nvPr>
            <p:ph type="title"/>
          </p:nvPr>
        </p:nvSpPr>
        <p:spPr>
          <a:xfrm>
            <a:off x="728420" y="2684191"/>
            <a:ext cx="10957302" cy="1368183"/>
          </a:xfrm>
        </p:spPr>
        <p:txBody>
          <a:bodyPr/>
          <a:lstStyle/>
          <a:p>
            <a:pPr algn="ctr"/>
            <a:r>
              <a:rPr lang="en-GB" b="1" dirty="0"/>
              <a:t>Agricultural Flood Risk Analysis for Africa</a:t>
            </a:r>
            <a:endParaRPr lang="en-GB" dirty="0"/>
          </a:p>
        </p:txBody>
      </p:sp>
      <p:sp>
        <p:nvSpPr>
          <p:cNvPr id="5" name="Text Placeholder 4">
            <a:extLst>
              <a:ext uri="{FF2B5EF4-FFF2-40B4-BE49-F238E27FC236}">
                <a16:creationId xmlns:a16="http://schemas.microsoft.com/office/drawing/2014/main" id="{05D4AC55-FB2E-527A-CB7C-4E22E3333D33}"/>
              </a:ext>
            </a:extLst>
          </p:cNvPr>
          <p:cNvSpPr>
            <a:spLocks noGrp="1"/>
          </p:cNvSpPr>
          <p:nvPr>
            <p:ph type="body" sz="quarter" idx="11"/>
          </p:nvPr>
        </p:nvSpPr>
        <p:spPr/>
        <p:txBody>
          <a:bodyPr/>
          <a:lstStyle/>
          <a:p>
            <a:r>
              <a:rPr lang="en-GB" dirty="0"/>
              <a:t>August 2026</a:t>
            </a:r>
          </a:p>
        </p:txBody>
      </p:sp>
      <p:sp>
        <p:nvSpPr>
          <p:cNvPr id="2" name="Footer Placeholder 1">
            <a:extLst>
              <a:ext uri="{FF2B5EF4-FFF2-40B4-BE49-F238E27FC236}">
                <a16:creationId xmlns:a16="http://schemas.microsoft.com/office/drawing/2014/main" id="{5CD1BDAF-0FAF-1946-4345-FCAF966148C6}"/>
              </a:ext>
            </a:extLst>
          </p:cNvPr>
          <p:cNvSpPr>
            <a:spLocks noGrp="1"/>
          </p:cNvSpPr>
          <p:nvPr>
            <p:ph type="ftr" sz="quarter" idx="12"/>
          </p:nvPr>
        </p:nvSpPr>
        <p:spPr/>
        <p:txBody>
          <a:bodyPr/>
          <a:lstStyle/>
          <a:p>
            <a:r>
              <a:rPr lang="en-GB"/>
              <a:t>Private &amp; Confidential</a:t>
            </a:r>
            <a:endParaRPr lang="en-GB" dirty="0"/>
          </a:p>
        </p:txBody>
      </p:sp>
    </p:spTree>
    <p:extLst>
      <p:ext uri="{BB962C8B-B14F-4D97-AF65-F5344CB8AC3E}">
        <p14:creationId xmlns:p14="http://schemas.microsoft.com/office/powerpoint/2010/main" val="256006825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3B18ED-32BF-EFE0-5B2C-B337B9E00E32}"/>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AE21C3A6-CE89-7F47-8D4F-C02E13B64D52}"/>
              </a:ext>
            </a:extLst>
          </p:cNvPr>
          <p:cNvSpPr>
            <a:spLocks noGrp="1"/>
          </p:cNvSpPr>
          <p:nvPr>
            <p:ph idx="1"/>
          </p:nvPr>
        </p:nvSpPr>
        <p:spPr>
          <a:xfrm>
            <a:off x="365760" y="1269507"/>
            <a:ext cx="11430000" cy="4729850"/>
          </a:xfrm>
        </p:spPr>
        <p:txBody>
          <a:bodyPr/>
          <a:lstStyle/>
          <a:p>
            <a:pPr lvl="0" algn="just">
              <a:lnSpc>
                <a:spcPct val="150000"/>
              </a:lnSpc>
            </a:pPr>
            <a:r>
              <a:rPr lang="en-GB" sz="2400" b="1" dirty="0"/>
              <a:t>Historical Baseline</a:t>
            </a:r>
            <a:r>
              <a:rPr lang="en-GB" sz="2400" dirty="0"/>
              <a:t>: 17 consecutive crop years (2008–2024) across </a:t>
            </a:r>
            <a:r>
              <a:rPr lang="en-GB" sz="2400" b="1" dirty="0"/>
              <a:t>1,638 African agricultural districts</a:t>
            </a:r>
            <a:r>
              <a:rPr lang="en-GB" sz="2400" dirty="0"/>
              <a:t>.</a:t>
            </a:r>
          </a:p>
          <a:p>
            <a:pPr lvl="0" algn="just">
              <a:lnSpc>
                <a:spcPct val="150000"/>
              </a:lnSpc>
            </a:pPr>
            <a:r>
              <a:rPr lang="en-GB" sz="2400" b="1" dirty="0"/>
              <a:t>Hazard Focus</a:t>
            </a:r>
            <a:r>
              <a:rPr lang="en-GB" sz="2400" dirty="0"/>
              <a:t>: Agricultural Soil Saturation &amp; Anoxic Root Waterlogging.</a:t>
            </a:r>
          </a:p>
          <a:p>
            <a:pPr lvl="0" algn="just">
              <a:lnSpc>
                <a:spcPct val="150000"/>
              </a:lnSpc>
            </a:pPr>
            <a:r>
              <a:rPr lang="en-GB" sz="2400" b="1" dirty="0"/>
              <a:t>Methodological Benchmark</a:t>
            </a:r>
            <a:r>
              <a:rPr lang="en-GB" sz="2400" dirty="0"/>
              <a:t>: Copernicus Satellite Soil Water Index (SWI_{T=10}) + Ward Agglomerative Regionalization.</a:t>
            </a:r>
          </a:p>
          <a:p>
            <a:pPr lvl="0" algn="just">
              <a:lnSpc>
                <a:spcPct val="150000"/>
              </a:lnSpc>
            </a:pPr>
            <a:r>
              <a:rPr lang="en-GB" sz="2400" b="1" dirty="0"/>
              <a:t>Underwriting Goal</a:t>
            </a:r>
            <a:r>
              <a:rPr lang="en-GB" sz="2400" dirty="0"/>
              <a:t>: Structuring robust, basis-risk-minimized parametric flood insurance triggers for treaty reinsurance.</a:t>
            </a:r>
          </a:p>
        </p:txBody>
      </p:sp>
      <p:sp>
        <p:nvSpPr>
          <p:cNvPr id="3" name="Slide Number Placeholder 2">
            <a:extLst>
              <a:ext uri="{FF2B5EF4-FFF2-40B4-BE49-F238E27FC236}">
                <a16:creationId xmlns:a16="http://schemas.microsoft.com/office/drawing/2014/main" id="{B2BFF3EA-016A-9CF0-9066-1582062B4272}"/>
              </a:ext>
            </a:extLst>
          </p:cNvPr>
          <p:cNvSpPr>
            <a:spLocks noGrp="1"/>
          </p:cNvSpPr>
          <p:nvPr>
            <p:ph type="sldNum" sz="quarter" idx="11"/>
          </p:nvPr>
        </p:nvSpPr>
        <p:spPr/>
        <p:txBody>
          <a:bodyPr/>
          <a:lstStyle/>
          <a:p>
            <a:fld id="{2870BB4D-683F-4BE4-9264-B05BE7781C96}" type="slidenum">
              <a:rPr lang="en-GB" smtClean="0"/>
              <a:pPr/>
              <a:t>2</a:t>
            </a:fld>
            <a:endParaRPr lang="en-GB"/>
          </a:p>
        </p:txBody>
      </p:sp>
      <p:sp>
        <p:nvSpPr>
          <p:cNvPr id="4" name="Footer Placeholder 3">
            <a:extLst>
              <a:ext uri="{FF2B5EF4-FFF2-40B4-BE49-F238E27FC236}">
                <a16:creationId xmlns:a16="http://schemas.microsoft.com/office/drawing/2014/main" id="{C77F4F47-C285-5F67-85BB-9CA531A90909}"/>
              </a:ext>
            </a:extLst>
          </p:cNvPr>
          <p:cNvSpPr>
            <a:spLocks noGrp="1"/>
          </p:cNvSpPr>
          <p:nvPr>
            <p:ph type="ftr" sz="quarter" idx="12"/>
          </p:nvPr>
        </p:nvSpPr>
        <p:spPr/>
        <p:txBody>
          <a:bodyPr/>
          <a:lstStyle/>
          <a:p>
            <a:r>
              <a:rPr lang="en-GB"/>
              <a:t>Private &amp; Confidential</a:t>
            </a:r>
            <a:endParaRPr lang="en-GB" dirty="0"/>
          </a:p>
        </p:txBody>
      </p:sp>
      <p:sp>
        <p:nvSpPr>
          <p:cNvPr id="6" name="TextBox 5">
            <a:extLst>
              <a:ext uri="{FF2B5EF4-FFF2-40B4-BE49-F238E27FC236}">
                <a16:creationId xmlns:a16="http://schemas.microsoft.com/office/drawing/2014/main" id="{A04FB1BB-B035-A5C0-86DC-3C0E207A6B31}"/>
              </a:ext>
            </a:extLst>
          </p:cNvPr>
          <p:cNvSpPr txBox="1"/>
          <p:nvPr/>
        </p:nvSpPr>
        <p:spPr>
          <a:xfrm>
            <a:off x="181063" y="297389"/>
            <a:ext cx="6755906" cy="523220"/>
          </a:xfrm>
          <a:prstGeom prst="rect">
            <a:avLst/>
          </a:prstGeom>
          <a:noFill/>
        </p:spPr>
        <p:txBody>
          <a:bodyPr wrap="square">
            <a:spAutoFit/>
          </a:bodyPr>
          <a:lstStyle/>
          <a:p>
            <a:r>
              <a:rPr lang="en-US" sz="2800" b="1" dirty="0">
                <a:latin typeface="Avenir Next LT Pro" panose="020B0504020202020204" pitchFamily="34" charset="0"/>
              </a:rPr>
              <a:t>Background</a:t>
            </a:r>
            <a:endParaRPr lang="en-GB" sz="2800" b="1" dirty="0">
              <a:latin typeface="Avenir Next LT Pro" panose="020B0504020202020204" pitchFamily="34" charset="0"/>
            </a:endParaRPr>
          </a:p>
        </p:txBody>
      </p:sp>
    </p:spTree>
    <p:extLst>
      <p:ext uri="{BB962C8B-B14F-4D97-AF65-F5344CB8AC3E}">
        <p14:creationId xmlns:p14="http://schemas.microsoft.com/office/powerpoint/2010/main" val="205811705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F20D55F3-44B7-42F2-6E85-6B8C6B3B397E}"/>
              </a:ext>
            </a:extLst>
          </p:cNvPr>
          <p:cNvSpPr>
            <a:spLocks noGrp="1"/>
          </p:cNvSpPr>
          <p:nvPr>
            <p:ph type="body" sz="quarter" idx="11"/>
          </p:nvPr>
        </p:nvSpPr>
        <p:spPr>
          <a:xfrm>
            <a:off x="4381568" y="5888"/>
            <a:ext cx="7696132" cy="6115090"/>
          </a:xfrm>
          <a:solidFill>
            <a:schemeClr val="bg1"/>
          </a:solidFill>
        </p:spPr>
        <p:txBody>
          <a:bodyPr/>
          <a:lstStyle/>
          <a:p>
            <a:pPr lvl="0" algn="just">
              <a:lnSpc>
                <a:spcPct val="100000"/>
              </a:lnSpc>
            </a:pPr>
            <a:r>
              <a:rPr lang="en-GB" sz="2400" b="1" dirty="0">
                <a:latin typeface="Avenir Next LT Pro" panose="020B0504020202020204" pitchFamily="34" charset="0"/>
              </a:rPr>
              <a:t>Problem: </a:t>
            </a:r>
          </a:p>
          <a:p>
            <a:pPr marL="342900" lvl="0" indent="-342900" algn="just">
              <a:lnSpc>
                <a:spcPct val="100000"/>
              </a:lnSpc>
              <a:buFont typeface="Arial" panose="020B0604020202020204" pitchFamily="34" charset="0"/>
              <a:buChar char="•"/>
            </a:pPr>
            <a:r>
              <a:rPr lang="en-GB" sz="2400" b="0" i="0" dirty="0">
                <a:effectLst/>
                <a:latin typeface="Avenir Next LT Pro" panose="020B0504020202020204" pitchFamily="34" charset="0"/>
              </a:rPr>
              <a:t>Extreme agricultural flood events (e.g., 2019 Cyclone Idai, 2022 West African deluge, 2023 Cyclone Freddy) submerge multiple adjacent crop districts simultaneously.</a:t>
            </a:r>
          </a:p>
          <a:p>
            <a:pPr marL="342900" lvl="0" indent="-342900" algn="just">
              <a:lnSpc>
                <a:spcPct val="100000"/>
              </a:lnSpc>
              <a:buFont typeface="Arial" panose="020B0604020202020204" pitchFamily="34" charset="0"/>
              <a:buChar char="•"/>
            </a:pPr>
            <a:r>
              <a:rPr lang="en-GB" sz="2400" b="0" i="0" dirty="0">
                <a:effectLst/>
                <a:latin typeface="Avenir Next LT Pro" panose="020B0504020202020204" pitchFamily="34" charset="0"/>
              </a:rPr>
              <a:t>Insuring geographically concentrated agricultural portfolios leads to catastrophic single-event capital depletion.</a:t>
            </a:r>
          </a:p>
          <a:p>
            <a:pPr marL="342900" lvl="0" indent="-342900" algn="just">
              <a:lnSpc>
                <a:spcPct val="100000"/>
              </a:lnSpc>
              <a:buFont typeface="Arial" panose="020B0604020202020204" pitchFamily="34" charset="0"/>
              <a:buChar char="•"/>
            </a:pPr>
            <a:endParaRPr lang="en-GB" sz="500" dirty="0">
              <a:latin typeface="Avenir Next LT Pro" panose="020B0504020202020204" pitchFamily="34" charset="0"/>
            </a:endParaRPr>
          </a:p>
          <a:p>
            <a:pPr lvl="0" algn="just">
              <a:lnSpc>
                <a:spcPct val="100000"/>
              </a:lnSpc>
            </a:pPr>
            <a:r>
              <a:rPr lang="en-GB" sz="2400" b="1" dirty="0">
                <a:latin typeface="Avenir Next LT Pro" panose="020B0504020202020204" pitchFamily="34" charset="0"/>
              </a:rPr>
              <a:t>Solution:</a:t>
            </a:r>
          </a:p>
          <a:p>
            <a:pPr marL="457200" lvl="0" indent="-457200" algn="just">
              <a:lnSpc>
                <a:spcPct val="100000"/>
              </a:lnSpc>
              <a:buFont typeface="Arial" panose="020B0604020202020204" pitchFamily="34" charset="0"/>
              <a:buChar char="•"/>
            </a:pPr>
            <a:r>
              <a:rPr lang="en-GB" sz="2400" dirty="0">
                <a:latin typeface="Avenir Next LT Pro" panose="020B0504020202020204" pitchFamily="34" charset="0"/>
              </a:rPr>
              <a:t>Identifying </a:t>
            </a:r>
            <a:r>
              <a:rPr lang="en-GB" sz="2400" b="1" dirty="0">
                <a:latin typeface="Avenir Next LT Pro" panose="020B0504020202020204" pitchFamily="34" charset="0"/>
              </a:rPr>
              <a:t>uncorrelated agricultural risk pools</a:t>
            </a:r>
            <a:r>
              <a:rPr lang="en-GB" sz="2400" dirty="0">
                <a:latin typeface="Avenir Next LT Pro" panose="020B0504020202020204" pitchFamily="34" charset="0"/>
              </a:rPr>
              <a:t> using inter-district Pearson co-movement matrices.</a:t>
            </a:r>
          </a:p>
          <a:p>
            <a:pPr marL="457200" lvl="0" indent="-457200" algn="just">
              <a:lnSpc>
                <a:spcPct val="100000"/>
              </a:lnSpc>
              <a:buFont typeface="Arial" panose="020B0604020202020204" pitchFamily="34" charset="0"/>
              <a:buChar char="•"/>
            </a:pPr>
            <a:r>
              <a:rPr lang="en-GB" sz="2400" dirty="0">
                <a:latin typeface="Avenir Next LT Pro" panose="020B0504020202020204" pitchFamily="34" charset="0"/>
              </a:rPr>
              <a:t>Pairing districts with near-zero or negative correlation ensures that when one region triggers a payout, independent agricultural regions act as a </a:t>
            </a:r>
            <a:r>
              <a:rPr lang="en-GB" sz="2400" b="1" dirty="0">
                <a:latin typeface="Avenir Next LT Pro" panose="020B0504020202020204" pitchFamily="34" charset="0"/>
              </a:rPr>
              <a:t>natural capital hedge</a:t>
            </a:r>
            <a:r>
              <a:rPr lang="en-GB" sz="2400" dirty="0">
                <a:latin typeface="Avenir Next LT Pro" panose="020B0504020202020204" pitchFamily="34" charset="0"/>
              </a:rPr>
              <a:t> (Carrão et al., 2016).</a:t>
            </a:r>
          </a:p>
        </p:txBody>
      </p:sp>
      <p:sp>
        <p:nvSpPr>
          <p:cNvPr id="3" name="Title 2">
            <a:extLst>
              <a:ext uri="{FF2B5EF4-FFF2-40B4-BE49-F238E27FC236}">
                <a16:creationId xmlns:a16="http://schemas.microsoft.com/office/drawing/2014/main" id="{81251086-CB97-7129-7302-E5F4E8D873D6}"/>
              </a:ext>
            </a:extLst>
          </p:cNvPr>
          <p:cNvSpPr>
            <a:spLocks noGrp="1"/>
          </p:cNvSpPr>
          <p:nvPr>
            <p:ph type="title"/>
          </p:nvPr>
        </p:nvSpPr>
        <p:spPr>
          <a:xfrm>
            <a:off x="0" y="139700"/>
            <a:ext cx="4381567" cy="1612900"/>
          </a:xfrm>
        </p:spPr>
        <p:txBody>
          <a:bodyPr/>
          <a:lstStyle/>
          <a:p>
            <a:pPr algn="ctr"/>
            <a:r>
              <a:rPr lang="en-GB" sz="3600" b="1" i="0" dirty="0">
                <a:solidFill>
                  <a:schemeClr val="bg1"/>
                </a:solidFill>
                <a:effectLst/>
                <a:latin typeface="Segoe WPC"/>
              </a:rPr>
              <a:t>Enabling Cross-Continental Spread of Risk</a:t>
            </a:r>
            <a:endParaRPr lang="en-GB" sz="3600" b="1" dirty="0">
              <a:solidFill>
                <a:schemeClr val="bg1"/>
              </a:solidFill>
            </a:endParaRPr>
          </a:p>
        </p:txBody>
      </p:sp>
      <p:sp>
        <p:nvSpPr>
          <p:cNvPr id="4" name="Footer Placeholder 3">
            <a:extLst>
              <a:ext uri="{FF2B5EF4-FFF2-40B4-BE49-F238E27FC236}">
                <a16:creationId xmlns:a16="http://schemas.microsoft.com/office/drawing/2014/main" id="{0503EFA2-CFED-5495-4A6D-73E4C8CC9635}"/>
              </a:ext>
            </a:extLst>
          </p:cNvPr>
          <p:cNvSpPr>
            <a:spLocks noGrp="1"/>
          </p:cNvSpPr>
          <p:nvPr>
            <p:ph type="ftr" sz="quarter" idx="12"/>
          </p:nvPr>
        </p:nvSpPr>
        <p:spPr/>
        <p:txBody>
          <a:bodyPr/>
          <a:lstStyle/>
          <a:p>
            <a:r>
              <a:rPr lang="en-US"/>
              <a:t>Private &amp; Confidential</a:t>
            </a:r>
            <a:endParaRPr lang="en-GB" dirty="0"/>
          </a:p>
        </p:txBody>
      </p:sp>
      <p:sp>
        <p:nvSpPr>
          <p:cNvPr id="8" name="TextBox 7">
            <a:extLst>
              <a:ext uri="{FF2B5EF4-FFF2-40B4-BE49-F238E27FC236}">
                <a16:creationId xmlns:a16="http://schemas.microsoft.com/office/drawing/2014/main" id="{C55BBF2A-B300-4DE1-78AD-10C2583EAC06}"/>
              </a:ext>
            </a:extLst>
          </p:cNvPr>
          <p:cNvSpPr txBox="1"/>
          <p:nvPr/>
        </p:nvSpPr>
        <p:spPr>
          <a:xfrm>
            <a:off x="517068" y="4920649"/>
            <a:ext cx="3276600" cy="1200329"/>
          </a:xfrm>
          <a:prstGeom prst="rect">
            <a:avLst/>
          </a:prstGeom>
          <a:noFill/>
        </p:spPr>
        <p:txBody>
          <a:bodyPr wrap="square">
            <a:spAutoFit/>
          </a:bodyPr>
          <a:lstStyle/>
          <a:p>
            <a:pPr algn="ctr"/>
            <a:r>
              <a:rPr lang="en-GB" sz="1800" b="0" i="1" dirty="0">
                <a:solidFill>
                  <a:srgbClr val="CCCCCC"/>
                </a:solidFill>
                <a:effectLst/>
                <a:latin typeface="Segoe WPC"/>
              </a:rPr>
              <a:t>Eliminating Systemic Accumulation Risk Through Uncorrelated Agricultural Risk Pools</a:t>
            </a:r>
            <a:endParaRPr lang="en-GB" sz="4400" dirty="0">
              <a:solidFill>
                <a:schemeClr val="bg1"/>
              </a:solidFill>
            </a:endParaRPr>
          </a:p>
        </p:txBody>
      </p:sp>
    </p:spTree>
    <p:extLst>
      <p:ext uri="{BB962C8B-B14F-4D97-AF65-F5344CB8AC3E}">
        <p14:creationId xmlns:p14="http://schemas.microsoft.com/office/powerpoint/2010/main" val="403088425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3E2B4F26-F59D-F9D7-B66E-7CE7D77DFB28}"/>
              </a:ext>
            </a:extLst>
          </p:cNvPr>
          <p:cNvSpPr>
            <a:spLocks noGrp="1"/>
          </p:cNvSpPr>
          <p:nvPr>
            <p:ph type="sldNum" sz="quarter" idx="11"/>
          </p:nvPr>
        </p:nvSpPr>
        <p:spPr/>
        <p:txBody>
          <a:bodyPr/>
          <a:lstStyle/>
          <a:p>
            <a:fld id="{2870BB4D-683F-4BE4-9264-B05BE7781C96}" type="slidenum">
              <a:rPr lang="en-GB" smtClean="0"/>
              <a:pPr/>
              <a:t>4</a:t>
            </a:fld>
            <a:endParaRPr lang="en-GB"/>
          </a:p>
        </p:txBody>
      </p:sp>
      <p:sp>
        <p:nvSpPr>
          <p:cNvPr id="4" name="Footer Placeholder 3">
            <a:extLst>
              <a:ext uri="{FF2B5EF4-FFF2-40B4-BE49-F238E27FC236}">
                <a16:creationId xmlns:a16="http://schemas.microsoft.com/office/drawing/2014/main" id="{DD612FF4-0177-97DC-4742-B010CCB737D2}"/>
              </a:ext>
            </a:extLst>
          </p:cNvPr>
          <p:cNvSpPr>
            <a:spLocks noGrp="1"/>
          </p:cNvSpPr>
          <p:nvPr>
            <p:ph type="ftr" sz="quarter" idx="12"/>
          </p:nvPr>
        </p:nvSpPr>
        <p:spPr/>
        <p:txBody>
          <a:bodyPr/>
          <a:lstStyle/>
          <a:p>
            <a:r>
              <a:rPr lang="en-GB"/>
              <a:t>Private &amp; Confidential</a:t>
            </a:r>
            <a:endParaRPr lang="en-GB" dirty="0"/>
          </a:p>
        </p:txBody>
      </p:sp>
      <p:sp>
        <p:nvSpPr>
          <p:cNvPr id="5" name="Title 4">
            <a:extLst>
              <a:ext uri="{FF2B5EF4-FFF2-40B4-BE49-F238E27FC236}">
                <a16:creationId xmlns:a16="http://schemas.microsoft.com/office/drawing/2014/main" id="{64B1B548-5835-7BF4-D8AF-91DE8F175D0B}"/>
              </a:ext>
            </a:extLst>
          </p:cNvPr>
          <p:cNvSpPr>
            <a:spLocks noGrp="1"/>
          </p:cNvSpPr>
          <p:nvPr>
            <p:ph type="title"/>
          </p:nvPr>
        </p:nvSpPr>
        <p:spPr>
          <a:xfrm>
            <a:off x="154937" y="283063"/>
            <a:ext cx="10765134" cy="614326"/>
          </a:xfrm>
        </p:spPr>
        <p:txBody>
          <a:bodyPr>
            <a:normAutofit/>
          </a:bodyPr>
          <a:lstStyle/>
          <a:p>
            <a:r>
              <a:rPr lang="en-GB" sz="3200" b="1" dirty="0">
                <a:latin typeface="Avenir Next LT Pro" panose="020B0504020202020204" pitchFamily="34" charset="0"/>
              </a:rPr>
              <a:t>Area of Interest: Agricultural Soil Saturation</a:t>
            </a:r>
          </a:p>
        </p:txBody>
      </p:sp>
      <p:sp>
        <p:nvSpPr>
          <p:cNvPr id="9" name="TextBox 8">
            <a:extLst>
              <a:ext uri="{FF2B5EF4-FFF2-40B4-BE49-F238E27FC236}">
                <a16:creationId xmlns:a16="http://schemas.microsoft.com/office/drawing/2014/main" id="{60713E20-EDE7-3606-D38A-A4B31BC0415C}"/>
              </a:ext>
            </a:extLst>
          </p:cNvPr>
          <p:cNvSpPr txBox="1"/>
          <p:nvPr/>
        </p:nvSpPr>
        <p:spPr>
          <a:xfrm>
            <a:off x="412595" y="1327002"/>
            <a:ext cx="11496907" cy="3907929"/>
          </a:xfrm>
          <a:prstGeom prst="rect">
            <a:avLst/>
          </a:prstGeom>
          <a:noFill/>
        </p:spPr>
        <p:txBody>
          <a:bodyPr wrap="square">
            <a:spAutoFit/>
          </a:bodyPr>
          <a:lstStyle/>
          <a:p>
            <a:pPr lvl="0" algn="just">
              <a:lnSpc>
                <a:spcPct val="150000"/>
              </a:lnSpc>
            </a:pPr>
            <a:r>
              <a:rPr lang="en-GB" sz="2400" b="1" dirty="0">
                <a:latin typeface="Avenir Next LT Pro" panose="020B0504020202020204" pitchFamily="34" charset="0"/>
              </a:rPr>
              <a:t>Spatial Domain</a:t>
            </a:r>
            <a:r>
              <a:rPr lang="en-GB" sz="2400" dirty="0">
                <a:latin typeface="Avenir Next LT Pro" panose="020B0504020202020204" pitchFamily="34" charset="0"/>
              </a:rPr>
              <a:t>: 1,638 GADM Level 2 agricultural districts across Pan-Africa (excl. non-cropped/desert zones).</a:t>
            </a:r>
          </a:p>
          <a:p>
            <a:pPr lvl="0" algn="just">
              <a:lnSpc>
                <a:spcPct val="150000"/>
              </a:lnSpc>
            </a:pPr>
            <a:r>
              <a:rPr lang="en-GB" sz="2400" b="1" dirty="0">
                <a:latin typeface="Avenir Next LT Pro" panose="020B0504020202020204" pitchFamily="34" charset="0"/>
              </a:rPr>
              <a:t>Crop Calendar Filtering</a:t>
            </a:r>
            <a:r>
              <a:rPr lang="en-GB" sz="2400" dirty="0">
                <a:latin typeface="Avenir Next LT Pro" panose="020B0504020202020204" pitchFamily="34" charset="0"/>
              </a:rPr>
              <a:t>:</a:t>
            </a:r>
          </a:p>
          <a:p>
            <a:pPr marL="800100" lvl="1" indent="-342900" algn="just">
              <a:lnSpc>
                <a:spcPct val="150000"/>
              </a:lnSpc>
              <a:buFont typeface="Arial" panose="020B0604020202020204" pitchFamily="34" charset="0"/>
              <a:buChar char="•"/>
            </a:pPr>
            <a:r>
              <a:rPr lang="en-GB" sz="2400" dirty="0">
                <a:latin typeface="Avenir Next LT Pro" panose="020B0504020202020204" pitchFamily="34" charset="0"/>
              </a:rPr>
              <a:t>Filtered through </a:t>
            </a:r>
            <a:r>
              <a:rPr lang="en-GB" sz="2400" b="1" dirty="0">
                <a:latin typeface="Avenir Next LT Pro" panose="020B0504020202020204" pitchFamily="34" charset="0"/>
              </a:rPr>
              <a:t>GEOGLAM CM4EW V1.4 Crop Calendars</a:t>
            </a:r>
            <a:r>
              <a:rPr lang="en-GB" sz="2400" dirty="0">
                <a:latin typeface="Avenir Next LT Pro" panose="020B0504020202020204" pitchFamily="34" charset="0"/>
              </a:rPr>
              <a:t> (Maize 1 &amp; 2 seasons).</a:t>
            </a:r>
          </a:p>
          <a:p>
            <a:pPr marL="800100" lvl="1" indent="-342900" algn="just">
              <a:lnSpc>
                <a:spcPct val="150000"/>
              </a:lnSpc>
              <a:buFont typeface="Arial" panose="020B0604020202020204" pitchFamily="34" charset="0"/>
              <a:buChar char="•"/>
            </a:pPr>
            <a:r>
              <a:rPr lang="en-GB" sz="2400" dirty="0">
                <a:latin typeface="Avenir Next LT Pro" panose="020B0504020202020204" pitchFamily="34" charset="0"/>
              </a:rPr>
              <a:t>Evaluates risk </a:t>
            </a:r>
            <a:r>
              <a:rPr lang="en-GB" sz="2400" b="1" dirty="0">
                <a:latin typeface="Avenir Next LT Pro" panose="020B0504020202020204" pitchFamily="34" charset="0"/>
              </a:rPr>
              <a:t>only during active growing windows</a:t>
            </a:r>
            <a:r>
              <a:rPr lang="en-GB" sz="2400" dirty="0">
                <a:latin typeface="Avenir Next LT Pro" panose="020B0504020202020204" pitchFamily="34" charset="0"/>
              </a:rPr>
              <a:t> (Planting DOY to Harvest DOY) when crops are biologically vulnerable.</a:t>
            </a:r>
          </a:p>
        </p:txBody>
      </p:sp>
    </p:spTree>
    <p:extLst>
      <p:ext uri="{BB962C8B-B14F-4D97-AF65-F5344CB8AC3E}">
        <p14:creationId xmlns:p14="http://schemas.microsoft.com/office/powerpoint/2010/main" val="179549058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7D6087-E156-D48B-7177-750BB435D39F}"/>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F051BC46-1A24-CCAB-2F9B-42944C03E07F}"/>
              </a:ext>
            </a:extLst>
          </p:cNvPr>
          <p:cNvSpPr>
            <a:spLocks noGrp="1"/>
          </p:cNvSpPr>
          <p:nvPr>
            <p:ph idx="1"/>
          </p:nvPr>
        </p:nvSpPr>
        <p:spPr>
          <a:xfrm>
            <a:off x="423746" y="1338143"/>
            <a:ext cx="11318489" cy="3858323"/>
          </a:xfrm>
        </p:spPr>
        <p:txBody>
          <a:bodyPr/>
          <a:lstStyle/>
          <a:p>
            <a:pPr marL="0" lvl="0" indent="0" algn="just">
              <a:lnSpc>
                <a:spcPct val="150000"/>
              </a:lnSpc>
              <a:buNone/>
            </a:pPr>
            <a:r>
              <a:rPr lang="en-GB" sz="2400" b="1" dirty="0"/>
              <a:t>Copernicus</a:t>
            </a:r>
            <a:r>
              <a:rPr lang="en-GB" sz="2400" dirty="0"/>
              <a:t>: Copernicus Global Land Service (Daily SWI V3, 12.5 km grid)</a:t>
            </a:r>
          </a:p>
          <a:p>
            <a:pPr marL="0" lvl="0" indent="0" algn="just">
              <a:lnSpc>
                <a:spcPct val="150000"/>
              </a:lnSpc>
              <a:buNone/>
            </a:pPr>
            <a:r>
              <a:rPr lang="en-GB" sz="2400" b="1" dirty="0"/>
              <a:t>Variable</a:t>
            </a:r>
            <a:r>
              <a:rPr lang="en-GB" sz="2400" dirty="0"/>
              <a:t>: SWI_{T=10} (T=10 days exponential filtering, simulating moisture infiltration into top 7–28 cm root zone; </a:t>
            </a:r>
            <a:r>
              <a:rPr lang="en-GB" sz="2400" dirty="0" err="1"/>
              <a:t>Albergel</a:t>
            </a:r>
            <a:r>
              <a:rPr lang="en-GB" sz="2400" dirty="0"/>
              <a:t> et al., 2008).</a:t>
            </a:r>
          </a:p>
          <a:p>
            <a:pPr marL="0" lvl="0" indent="0" algn="just">
              <a:lnSpc>
                <a:spcPct val="150000"/>
              </a:lnSpc>
              <a:buNone/>
            </a:pPr>
            <a:r>
              <a:rPr lang="en-GB" sz="2400" b="1" dirty="0"/>
              <a:t>Direct Physical Measurement</a:t>
            </a:r>
            <a:r>
              <a:rPr lang="en-GB" sz="2400" dirty="0"/>
              <a:t>: Radar measures actual surface moisture.</a:t>
            </a:r>
          </a:p>
          <a:p>
            <a:pPr marL="0" lvl="0" indent="0" algn="just">
              <a:lnSpc>
                <a:spcPct val="150000"/>
              </a:lnSpc>
              <a:buNone/>
            </a:pPr>
            <a:r>
              <a:rPr lang="en-GB" sz="2400" b="1" dirty="0"/>
              <a:t>Global Standardization</a:t>
            </a:r>
            <a:r>
              <a:rPr lang="en-GB" sz="2400" dirty="0"/>
              <a:t>: Maintained continuously by the European Commission.</a:t>
            </a:r>
          </a:p>
        </p:txBody>
      </p:sp>
      <p:sp>
        <p:nvSpPr>
          <p:cNvPr id="3" name="Slide Number Placeholder 2">
            <a:extLst>
              <a:ext uri="{FF2B5EF4-FFF2-40B4-BE49-F238E27FC236}">
                <a16:creationId xmlns:a16="http://schemas.microsoft.com/office/drawing/2014/main" id="{913E2284-0D20-B758-4CF0-1520EB85486E}"/>
              </a:ext>
            </a:extLst>
          </p:cNvPr>
          <p:cNvSpPr>
            <a:spLocks noGrp="1"/>
          </p:cNvSpPr>
          <p:nvPr>
            <p:ph type="sldNum" sz="quarter" idx="11"/>
          </p:nvPr>
        </p:nvSpPr>
        <p:spPr/>
        <p:txBody>
          <a:bodyPr/>
          <a:lstStyle/>
          <a:p>
            <a:fld id="{2870BB4D-683F-4BE4-9264-B05BE7781C96}" type="slidenum">
              <a:rPr lang="en-GB" smtClean="0"/>
              <a:pPr/>
              <a:t>5</a:t>
            </a:fld>
            <a:endParaRPr lang="en-GB"/>
          </a:p>
        </p:txBody>
      </p:sp>
      <p:sp>
        <p:nvSpPr>
          <p:cNvPr id="4" name="Footer Placeholder 3">
            <a:extLst>
              <a:ext uri="{FF2B5EF4-FFF2-40B4-BE49-F238E27FC236}">
                <a16:creationId xmlns:a16="http://schemas.microsoft.com/office/drawing/2014/main" id="{E31079C6-E2A3-BEE9-C6CC-25881AA612DC}"/>
              </a:ext>
            </a:extLst>
          </p:cNvPr>
          <p:cNvSpPr>
            <a:spLocks noGrp="1"/>
          </p:cNvSpPr>
          <p:nvPr>
            <p:ph type="ftr" sz="quarter" idx="12"/>
          </p:nvPr>
        </p:nvSpPr>
        <p:spPr/>
        <p:txBody>
          <a:bodyPr/>
          <a:lstStyle/>
          <a:p>
            <a:r>
              <a:rPr lang="en-GB" dirty="0"/>
              <a:t>Private &amp; Confidential</a:t>
            </a:r>
          </a:p>
        </p:txBody>
      </p:sp>
      <p:sp>
        <p:nvSpPr>
          <p:cNvPr id="5" name="Title 4">
            <a:extLst>
              <a:ext uri="{FF2B5EF4-FFF2-40B4-BE49-F238E27FC236}">
                <a16:creationId xmlns:a16="http://schemas.microsoft.com/office/drawing/2014/main" id="{049581D4-3CDD-7F63-4FC5-C29650C19702}"/>
              </a:ext>
            </a:extLst>
          </p:cNvPr>
          <p:cNvSpPr>
            <a:spLocks noGrp="1"/>
          </p:cNvSpPr>
          <p:nvPr>
            <p:ph type="title"/>
          </p:nvPr>
        </p:nvSpPr>
        <p:spPr>
          <a:xfrm>
            <a:off x="181062" y="224581"/>
            <a:ext cx="11895709" cy="537419"/>
          </a:xfrm>
        </p:spPr>
        <p:txBody>
          <a:bodyPr>
            <a:noAutofit/>
          </a:bodyPr>
          <a:lstStyle/>
          <a:p>
            <a:r>
              <a:rPr lang="en-GB" sz="3200" b="1" dirty="0">
                <a:latin typeface="Avenir Next LT Pro" panose="020B0504020202020204" pitchFamily="34" charset="0"/>
              </a:rPr>
              <a:t>Data Selection: Copernicus Soil Water Index (SWI)</a:t>
            </a:r>
          </a:p>
        </p:txBody>
      </p:sp>
    </p:spTree>
    <p:extLst>
      <p:ext uri="{BB962C8B-B14F-4D97-AF65-F5344CB8AC3E}">
        <p14:creationId xmlns:p14="http://schemas.microsoft.com/office/powerpoint/2010/main" val="303971039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84CFD1-E02D-071B-A72A-55CD32CDAB71}"/>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FC6FDC13-2641-AFD3-15D2-3A59B027C93A}"/>
              </a:ext>
            </a:extLst>
          </p:cNvPr>
          <p:cNvSpPr>
            <a:spLocks noGrp="1"/>
          </p:cNvSpPr>
          <p:nvPr>
            <p:ph type="sldNum" sz="quarter" idx="11"/>
          </p:nvPr>
        </p:nvSpPr>
        <p:spPr/>
        <p:txBody>
          <a:bodyPr/>
          <a:lstStyle/>
          <a:p>
            <a:fld id="{2870BB4D-683F-4BE4-9264-B05BE7781C96}" type="slidenum">
              <a:rPr lang="en-GB" smtClean="0"/>
              <a:pPr/>
              <a:t>6</a:t>
            </a:fld>
            <a:endParaRPr lang="en-GB"/>
          </a:p>
        </p:txBody>
      </p:sp>
      <p:sp>
        <p:nvSpPr>
          <p:cNvPr id="4" name="Footer Placeholder 3">
            <a:extLst>
              <a:ext uri="{FF2B5EF4-FFF2-40B4-BE49-F238E27FC236}">
                <a16:creationId xmlns:a16="http://schemas.microsoft.com/office/drawing/2014/main" id="{F44C68D8-FB96-F913-2452-ABF414388EDE}"/>
              </a:ext>
            </a:extLst>
          </p:cNvPr>
          <p:cNvSpPr>
            <a:spLocks noGrp="1"/>
          </p:cNvSpPr>
          <p:nvPr>
            <p:ph type="ftr" sz="quarter" idx="12"/>
          </p:nvPr>
        </p:nvSpPr>
        <p:spPr/>
        <p:txBody>
          <a:bodyPr/>
          <a:lstStyle/>
          <a:p>
            <a:r>
              <a:rPr lang="en-GB"/>
              <a:t>Private &amp; Confidential</a:t>
            </a:r>
            <a:endParaRPr lang="en-GB" dirty="0"/>
          </a:p>
        </p:txBody>
      </p:sp>
      <p:sp>
        <p:nvSpPr>
          <p:cNvPr id="5" name="Title 4">
            <a:extLst>
              <a:ext uri="{FF2B5EF4-FFF2-40B4-BE49-F238E27FC236}">
                <a16:creationId xmlns:a16="http://schemas.microsoft.com/office/drawing/2014/main" id="{984449BA-01BC-870E-4DF1-CE8DC693167D}"/>
              </a:ext>
            </a:extLst>
          </p:cNvPr>
          <p:cNvSpPr>
            <a:spLocks noGrp="1"/>
          </p:cNvSpPr>
          <p:nvPr>
            <p:ph type="title"/>
          </p:nvPr>
        </p:nvSpPr>
        <p:spPr>
          <a:xfrm>
            <a:off x="154936" y="187813"/>
            <a:ext cx="11846563" cy="560034"/>
          </a:xfrm>
        </p:spPr>
        <p:txBody>
          <a:bodyPr>
            <a:normAutofit fontScale="90000"/>
          </a:bodyPr>
          <a:lstStyle/>
          <a:p>
            <a:r>
              <a:rPr lang="en-US" b="1" dirty="0">
                <a:latin typeface="Avenir Next LT Pro" panose="020B0504020202020204" pitchFamily="34" charset="0"/>
              </a:rPr>
              <a:t>W</a:t>
            </a:r>
            <a:r>
              <a:rPr lang="en-GB" b="1" dirty="0">
                <a:latin typeface="Avenir Next LT Pro" panose="020B0504020202020204" pitchFamily="34" charset="0"/>
              </a:rPr>
              <a:t>hy 95 Percentile + 85% Absolute threshold ?</a:t>
            </a:r>
            <a:endParaRPr lang="en-GB" dirty="0">
              <a:latin typeface="Avenir Next LT Pro" panose="020B0504020202020204" pitchFamily="34" charset="0"/>
            </a:endParaRPr>
          </a:p>
        </p:txBody>
      </p:sp>
      <p:pic>
        <p:nvPicPr>
          <p:cNvPr id="6" name="Picture 5">
            <a:extLst>
              <a:ext uri="{FF2B5EF4-FFF2-40B4-BE49-F238E27FC236}">
                <a16:creationId xmlns:a16="http://schemas.microsoft.com/office/drawing/2014/main" id="{9DD5E91C-40DD-C460-87E4-D1DA264FD811}"/>
              </a:ext>
            </a:extLst>
          </p:cNvPr>
          <p:cNvPicPr>
            <a:picLocks noChangeAspect="1"/>
          </p:cNvPicPr>
          <p:nvPr/>
        </p:nvPicPr>
        <p:blipFill>
          <a:blip r:embed="rId3">
            <a:extLst>
              <a:ext uri="{28A0092B-C50C-407E-A947-70E740481C1C}">
                <a14:useLocalDpi xmlns:a14="http://schemas.microsoft.com/office/drawing/2010/main" val="0"/>
              </a:ext>
            </a:extLst>
          </a:blip>
          <a:srcRect l="1675" t="9595" r="4293" b="2912"/>
          <a:stretch>
            <a:fillRect/>
          </a:stretch>
        </p:blipFill>
        <p:spPr>
          <a:xfrm>
            <a:off x="5742878" y="2311124"/>
            <a:ext cx="6435324" cy="2545842"/>
          </a:xfrm>
          <a:prstGeom prst="rect">
            <a:avLst/>
          </a:prstGeom>
        </p:spPr>
      </p:pic>
      <p:sp>
        <p:nvSpPr>
          <p:cNvPr id="8" name="TextBox 7">
            <a:extLst>
              <a:ext uri="{FF2B5EF4-FFF2-40B4-BE49-F238E27FC236}">
                <a16:creationId xmlns:a16="http://schemas.microsoft.com/office/drawing/2014/main" id="{4FDFED81-FEEF-6E42-1C1B-D134E6A7FAE7}"/>
              </a:ext>
            </a:extLst>
          </p:cNvPr>
          <p:cNvSpPr txBox="1"/>
          <p:nvPr/>
        </p:nvSpPr>
        <p:spPr>
          <a:xfrm>
            <a:off x="13798" y="1255061"/>
            <a:ext cx="12175556" cy="1137940"/>
          </a:xfrm>
          <a:prstGeom prst="rect">
            <a:avLst/>
          </a:prstGeom>
          <a:noFill/>
        </p:spPr>
        <p:txBody>
          <a:bodyPr wrap="square">
            <a:spAutoFit/>
          </a:bodyPr>
          <a:lstStyle/>
          <a:p>
            <a:pPr marL="342900" lvl="0" indent="-342900" algn="just">
              <a:lnSpc>
                <a:spcPct val="150000"/>
              </a:lnSpc>
              <a:buFont typeface="Arial" panose="020B0604020202020204" pitchFamily="34" charset="0"/>
              <a:buChar char="•"/>
            </a:pPr>
            <a:r>
              <a:rPr lang="en-GB" sz="2400" b="1" dirty="0">
                <a:solidFill>
                  <a:srgbClr val="240B60"/>
                </a:solidFill>
                <a:latin typeface="Avenir Next LT Pro" panose="020B0504020202020204" pitchFamily="34" charset="0"/>
              </a:rPr>
              <a:t>P_{95} + 85% Absolute</a:t>
            </a:r>
            <a:r>
              <a:rPr lang="en-GB" sz="2400" dirty="0">
                <a:solidFill>
                  <a:srgbClr val="240B60"/>
                </a:solidFill>
                <a:latin typeface="Avenir Next LT Pro" panose="020B0504020202020204" pitchFamily="34" charset="0"/>
              </a:rPr>
              <a:t>: Combines local historical rarity (P_{95}) with a mandatory physical waterlogging floor (&gt;= 85 SWI).</a:t>
            </a:r>
          </a:p>
        </p:txBody>
      </p:sp>
      <p:sp>
        <p:nvSpPr>
          <p:cNvPr id="11" name="TextBox 10">
            <a:extLst>
              <a:ext uri="{FF2B5EF4-FFF2-40B4-BE49-F238E27FC236}">
                <a16:creationId xmlns:a16="http://schemas.microsoft.com/office/drawing/2014/main" id="{75C3D530-E02B-93AC-45F9-3EE023277290}"/>
              </a:ext>
            </a:extLst>
          </p:cNvPr>
          <p:cNvSpPr txBox="1"/>
          <p:nvPr/>
        </p:nvSpPr>
        <p:spPr>
          <a:xfrm>
            <a:off x="-1" y="4638421"/>
            <a:ext cx="12189355" cy="1691938"/>
          </a:xfrm>
          <a:prstGeom prst="rect">
            <a:avLst/>
          </a:prstGeom>
          <a:noFill/>
        </p:spPr>
        <p:txBody>
          <a:bodyPr wrap="square">
            <a:spAutoFit/>
          </a:bodyPr>
          <a:lstStyle/>
          <a:p>
            <a:pPr marL="342900" lvl="0" indent="-342900" algn="just">
              <a:lnSpc>
                <a:spcPct val="150000"/>
              </a:lnSpc>
              <a:buFont typeface="Arial" panose="020B0604020202020204" pitchFamily="34" charset="0"/>
              <a:buChar char="•"/>
            </a:pPr>
            <a:r>
              <a:rPr lang="en-GB" sz="2400" dirty="0">
                <a:latin typeface="Avenir Next LT Pro" panose="020B0504020202020204" pitchFamily="34" charset="0"/>
              </a:rPr>
              <a:t>Sustained anoxia causes ethylene accumulation, cell necrosis in root meristems, and irreversible </a:t>
            </a:r>
            <a:r>
              <a:rPr lang="en-GB" sz="2400" b="1" dirty="0">
                <a:latin typeface="Avenir Next LT Pro" panose="020B0504020202020204" pitchFamily="34" charset="0"/>
              </a:rPr>
              <a:t>30–50% yield reduction by Day 3–4</a:t>
            </a:r>
            <a:r>
              <a:rPr lang="en-GB" sz="2400" dirty="0">
                <a:latin typeface="Avenir Next LT Pro" panose="020B0504020202020204" pitchFamily="34" charset="0"/>
              </a:rPr>
              <a:t> (Kaur et al., 2020; Ren et al., 2014; Zhang et al., 2023).</a:t>
            </a:r>
          </a:p>
        </p:txBody>
      </p:sp>
      <p:sp>
        <p:nvSpPr>
          <p:cNvPr id="13" name="TextBox 12">
            <a:extLst>
              <a:ext uri="{FF2B5EF4-FFF2-40B4-BE49-F238E27FC236}">
                <a16:creationId xmlns:a16="http://schemas.microsoft.com/office/drawing/2014/main" id="{8D9B4933-2C62-EC0E-4C6C-96704E9722FD}"/>
              </a:ext>
            </a:extLst>
          </p:cNvPr>
          <p:cNvSpPr txBox="1"/>
          <p:nvPr/>
        </p:nvSpPr>
        <p:spPr>
          <a:xfrm>
            <a:off x="13798" y="2393001"/>
            <a:ext cx="5717928" cy="2245936"/>
          </a:xfrm>
          <a:prstGeom prst="rect">
            <a:avLst/>
          </a:prstGeom>
          <a:noFill/>
        </p:spPr>
        <p:txBody>
          <a:bodyPr wrap="square">
            <a:spAutoFit/>
          </a:bodyPr>
          <a:lstStyle/>
          <a:p>
            <a:pPr marL="342900" indent="-342900" algn="just">
              <a:lnSpc>
                <a:spcPct val="150000"/>
              </a:lnSpc>
              <a:buFont typeface="Arial" panose="020B0604020202020204" pitchFamily="34" charset="0"/>
              <a:buChar char="•"/>
            </a:pPr>
            <a:r>
              <a:rPr lang="en-GB" sz="2400" b="1" dirty="0">
                <a:latin typeface="Avenir Next LT Pro" panose="020B0504020202020204" pitchFamily="34" charset="0"/>
              </a:rPr>
              <a:t>Soil saturation (SWI &gt;= 85%)</a:t>
            </a:r>
            <a:r>
              <a:rPr lang="en-GB" sz="2400" dirty="0">
                <a:latin typeface="Avenir Next LT Pro" panose="020B0504020202020204" pitchFamily="34" charset="0"/>
              </a:rPr>
              <a:t> removes dissolved oxygen from the root zone within 24–48 hours (Feddes et al., 1978).</a:t>
            </a:r>
          </a:p>
        </p:txBody>
      </p:sp>
    </p:spTree>
    <p:extLst>
      <p:ext uri="{BB962C8B-B14F-4D97-AF65-F5344CB8AC3E}">
        <p14:creationId xmlns:p14="http://schemas.microsoft.com/office/powerpoint/2010/main" val="375303148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DDA501-63C1-C601-F773-A3579E4AF6E1}"/>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723FCD20-E12C-E804-72A1-81AAD77C215F}"/>
              </a:ext>
            </a:extLst>
          </p:cNvPr>
          <p:cNvSpPr>
            <a:spLocks noGrp="1"/>
          </p:cNvSpPr>
          <p:nvPr>
            <p:ph type="sldNum" sz="quarter" idx="11"/>
          </p:nvPr>
        </p:nvSpPr>
        <p:spPr/>
        <p:txBody>
          <a:bodyPr/>
          <a:lstStyle/>
          <a:p>
            <a:fld id="{2870BB4D-683F-4BE4-9264-B05BE7781C96}" type="slidenum">
              <a:rPr lang="en-GB" smtClean="0"/>
              <a:pPr/>
              <a:t>7</a:t>
            </a:fld>
            <a:endParaRPr lang="en-GB"/>
          </a:p>
        </p:txBody>
      </p:sp>
      <p:sp>
        <p:nvSpPr>
          <p:cNvPr id="4" name="Footer Placeholder 3">
            <a:extLst>
              <a:ext uri="{FF2B5EF4-FFF2-40B4-BE49-F238E27FC236}">
                <a16:creationId xmlns:a16="http://schemas.microsoft.com/office/drawing/2014/main" id="{C328D46B-0719-3441-1CBB-0BB29526F004}"/>
              </a:ext>
            </a:extLst>
          </p:cNvPr>
          <p:cNvSpPr>
            <a:spLocks noGrp="1"/>
          </p:cNvSpPr>
          <p:nvPr>
            <p:ph type="ftr" sz="quarter" idx="12"/>
          </p:nvPr>
        </p:nvSpPr>
        <p:spPr/>
        <p:txBody>
          <a:bodyPr/>
          <a:lstStyle/>
          <a:p>
            <a:r>
              <a:rPr lang="en-GB"/>
              <a:t>Private &amp; Confidential</a:t>
            </a:r>
            <a:endParaRPr lang="en-GB" dirty="0"/>
          </a:p>
        </p:txBody>
      </p:sp>
      <p:sp>
        <p:nvSpPr>
          <p:cNvPr id="5" name="Title 4">
            <a:extLst>
              <a:ext uri="{FF2B5EF4-FFF2-40B4-BE49-F238E27FC236}">
                <a16:creationId xmlns:a16="http://schemas.microsoft.com/office/drawing/2014/main" id="{870087AB-1324-98B4-9C69-DFAF2089A911}"/>
              </a:ext>
            </a:extLst>
          </p:cNvPr>
          <p:cNvSpPr>
            <a:spLocks noGrp="1"/>
          </p:cNvSpPr>
          <p:nvPr>
            <p:ph type="title"/>
          </p:nvPr>
        </p:nvSpPr>
        <p:spPr>
          <a:xfrm>
            <a:off x="154936" y="187813"/>
            <a:ext cx="11846563" cy="560034"/>
          </a:xfrm>
        </p:spPr>
        <p:txBody>
          <a:bodyPr>
            <a:normAutofit fontScale="90000"/>
          </a:bodyPr>
          <a:lstStyle/>
          <a:p>
            <a:r>
              <a:rPr lang="en-GB" b="1" dirty="0">
                <a:latin typeface="Avenir Next LT Pro" panose="020B0504020202020204" pitchFamily="34" charset="0"/>
              </a:rPr>
              <a:t>5-Day vs. 7-Day </a:t>
            </a:r>
            <a:endParaRPr lang="en-GB" dirty="0">
              <a:latin typeface="Avenir Next LT Pro" panose="020B0504020202020204" pitchFamily="34" charset="0"/>
            </a:endParaRPr>
          </a:p>
        </p:txBody>
      </p:sp>
      <p:sp>
        <p:nvSpPr>
          <p:cNvPr id="9" name="TextBox 8">
            <a:extLst>
              <a:ext uri="{FF2B5EF4-FFF2-40B4-BE49-F238E27FC236}">
                <a16:creationId xmlns:a16="http://schemas.microsoft.com/office/drawing/2014/main" id="{FC2B6552-256F-E70E-C91B-E837F4DE86CF}"/>
              </a:ext>
            </a:extLst>
          </p:cNvPr>
          <p:cNvSpPr txBox="1"/>
          <p:nvPr/>
        </p:nvSpPr>
        <p:spPr>
          <a:xfrm>
            <a:off x="4518" y="3949147"/>
            <a:ext cx="12192001" cy="2245936"/>
          </a:xfrm>
          <a:prstGeom prst="rect">
            <a:avLst/>
          </a:prstGeom>
          <a:noFill/>
        </p:spPr>
        <p:txBody>
          <a:bodyPr wrap="square">
            <a:spAutoFit/>
          </a:bodyPr>
          <a:lstStyle/>
          <a:p>
            <a:pPr marL="342900" lvl="0" indent="-342900" algn="just">
              <a:lnSpc>
                <a:spcPct val="150000"/>
              </a:lnSpc>
              <a:buFont typeface="Arial" panose="020B0604020202020204" pitchFamily="34" charset="0"/>
              <a:buChar char="•"/>
            </a:pPr>
            <a:r>
              <a:rPr lang="en-GB" sz="2400" dirty="0">
                <a:latin typeface="Avenir Next LT Pro" panose="020B0504020202020204" pitchFamily="34" charset="0"/>
              </a:rPr>
              <a:t>7-day continuous rules missed major 5-to-6 day intense agricultural inundations in </a:t>
            </a:r>
            <a:r>
              <a:rPr lang="en-GB" sz="2400" b="1" dirty="0">
                <a:latin typeface="Avenir Next LT Pro" panose="020B0504020202020204" pitchFamily="34" charset="0"/>
              </a:rPr>
              <a:t>semi-arid and tropical coastal zones</a:t>
            </a:r>
            <a:r>
              <a:rPr lang="en-GB" sz="2400" dirty="0">
                <a:latin typeface="Avenir Next LT Pro" panose="020B0504020202020204" pitchFamily="34" charset="0"/>
              </a:rPr>
              <a:t>.</a:t>
            </a:r>
          </a:p>
          <a:p>
            <a:pPr marL="342900" lvl="0" indent="-342900" algn="just">
              <a:lnSpc>
                <a:spcPct val="150000"/>
              </a:lnSpc>
              <a:buFont typeface="Arial" panose="020B0604020202020204" pitchFamily="34" charset="0"/>
              <a:buChar char="•"/>
            </a:pPr>
            <a:r>
              <a:rPr lang="en-GB" sz="2400" b="1" dirty="0">
                <a:latin typeface="Avenir Next LT Pro" panose="020B0504020202020204" pitchFamily="34" charset="0"/>
              </a:rPr>
              <a:t>Semi-Arid Inundation Captured </a:t>
            </a:r>
            <a:r>
              <a:rPr lang="en-GB" sz="2400" dirty="0">
                <a:latin typeface="Avenir Next LT Pro" panose="020B0504020202020204" pitchFamily="34" charset="0"/>
              </a:rPr>
              <a:t>severe flood coverage in </a:t>
            </a:r>
            <a:r>
              <a:rPr lang="en-GB" sz="2400" b="1" dirty="0">
                <a:latin typeface="Avenir Next LT Pro" panose="020B0504020202020204" pitchFamily="34" charset="0"/>
              </a:rPr>
              <a:t>Egypt </a:t>
            </a:r>
            <a:r>
              <a:rPr lang="en-GB" sz="2400" dirty="0">
                <a:latin typeface="Avenir Next LT Pro" panose="020B0504020202020204" pitchFamily="34" charset="0"/>
              </a:rPr>
              <a:t>(+100%), </a:t>
            </a:r>
            <a:r>
              <a:rPr lang="en-GB" sz="2400" b="1" dirty="0">
                <a:latin typeface="Avenir Next LT Pro" panose="020B0504020202020204" pitchFamily="34" charset="0"/>
              </a:rPr>
              <a:t>Senegal </a:t>
            </a:r>
            <a:r>
              <a:rPr lang="en-GB" sz="2400" dirty="0">
                <a:latin typeface="Avenir Next LT Pro" panose="020B0504020202020204" pitchFamily="34" charset="0"/>
              </a:rPr>
              <a:t>(+65.4%), </a:t>
            </a:r>
            <a:r>
              <a:rPr lang="en-GB" sz="2400" b="1" dirty="0">
                <a:latin typeface="Avenir Next LT Pro" panose="020B0504020202020204" pitchFamily="34" charset="0"/>
              </a:rPr>
              <a:t>South Africa </a:t>
            </a:r>
            <a:r>
              <a:rPr lang="en-GB" sz="2400" dirty="0">
                <a:latin typeface="Avenir Next LT Pro" panose="020B0504020202020204" pitchFamily="34" charset="0"/>
              </a:rPr>
              <a:t>(+33.9%), </a:t>
            </a:r>
            <a:r>
              <a:rPr lang="en-GB" sz="2400" b="1" dirty="0">
                <a:latin typeface="Avenir Next LT Pro" panose="020B0504020202020204" pitchFamily="34" charset="0"/>
              </a:rPr>
              <a:t>Kenya </a:t>
            </a:r>
            <a:r>
              <a:rPr lang="en-GB" sz="2400" dirty="0">
                <a:latin typeface="Avenir Next LT Pro" panose="020B0504020202020204" pitchFamily="34" charset="0"/>
              </a:rPr>
              <a:t>(+18.4%), </a:t>
            </a:r>
            <a:r>
              <a:rPr lang="en-GB" sz="2400" b="1" dirty="0">
                <a:latin typeface="Avenir Next LT Pro" panose="020B0504020202020204" pitchFamily="34" charset="0"/>
              </a:rPr>
              <a:t>Namibia</a:t>
            </a:r>
            <a:r>
              <a:rPr lang="en-GB" sz="2400" dirty="0">
                <a:latin typeface="Avenir Next LT Pro" panose="020B0504020202020204" pitchFamily="34" charset="0"/>
              </a:rPr>
              <a:t>, and </a:t>
            </a:r>
            <a:r>
              <a:rPr lang="en-GB" sz="2400" b="1" dirty="0">
                <a:latin typeface="Avenir Next LT Pro" panose="020B0504020202020204" pitchFamily="34" charset="0"/>
              </a:rPr>
              <a:t>Chad</a:t>
            </a:r>
            <a:r>
              <a:rPr lang="en-GB" sz="2400" dirty="0">
                <a:latin typeface="Avenir Next LT Pro" panose="020B0504020202020204" pitchFamily="34" charset="0"/>
              </a:rPr>
              <a:t>.</a:t>
            </a:r>
          </a:p>
        </p:txBody>
      </p:sp>
      <p:pic>
        <p:nvPicPr>
          <p:cNvPr id="6" name="Picture 5">
            <a:extLst>
              <a:ext uri="{FF2B5EF4-FFF2-40B4-BE49-F238E27FC236}">
                <a16:creationId xmlns:a16="http://schemas.microsoft.com/office/drawing/2014/main" id="{3F3976F9-F23B-9419-15B8-D78C7998F995}"/>
              </a:ext>
            </a:extLst>
          </p:cNvPr>
          <p:cNvPicPr>
            <a:picLocks noChangeAspect="1"/>
          </p:cNvPicPr>
          <p:nvPr/>
        </p:nvPicPr>
        <p:blipFill>
          <a:blip r:embed="rId3">
            <a:extLst>
              <a:ext uri="{28A0092B-C50C-407E-A947-70E740481C1C}">
                <a14:useLocalDpi xmlns:a14="http://schemas.microsoft.com/office/drawing/2010/main" val="0"/>
              </a:ext>
            </a:extLst>
          </a:blip>
          <a:srcRect t="2771" r="4798" b="1"/>
          <a:stretch>
            <a:fillRect/>
          </a:stretch>
        </p:blipFill>
        <p:spPr>
          <a:xfrm>
            <a:off x="6083300" y="1796204"/>
            <a:ext cx="6096000" cy="2369661"/>
          </a:xfrm>
          <a:prstGeom prst="rect">
            <a:avLst/>
          </a:prstGeom>
        </p:spPr>
      </p:pic>
      <p:pic>
        <p:nvPicPr>
          <p:cNvPr id="8" name="Picture 7">
            <a:extLst>
              <a:ext uri="{FF2B5EF4-FFF2-40B4-BE49-F238E27FC236}">
                <a16:creationId xmlns:a16="http://schemas.microsoft.com/office/drawing/2014/main" id="{CE58DD57-6AF4-B2CB-C6B7-0388F8AFB250}"/>
              </a:ext>
            </a:extLst>
          </p:cNvPr>
          <p:cNvPicPr>
            <a:picLocks noChangeAspect="1"/>
          </p:cNvPicPr>
          <p:nvPr/>
        </p:nvPicPr>
        <p:blipFill>
          <a:blip r:embed="rId4">
            <a:extLst>
              <a:ext uri="{28A0092B-C50C-407E-A947-70E740481C1C}">
                <a14:useLocalDpi xmlns:a14="http://schemas.microsoft.com/office/drawing/2010/main" val="0"/>
              </a:ext>
            </a:extLst>
          </a:blip>
          <a:srcRect t="2783" r="4742"/>
          <a:stretch>
            <a:fillRect/>
          </a:stretch>
        </p:blipFill>
        <p:spPr>
          <a:xfrm>
            <a:off x="6350" y="1796963"/>
            <a:ext cx="6096000" cy="2367998"/>
          </a:xfrm>
          <a:prstGeom prst="rect">
            <a:avLst/>
          </a:prstGeom>
        </p:spPr>
      </p:pic>
      <p:sp>
        <p:nvSpPr>
          <p:cNvPr id="11" name="TextBox 10">
            <a:extLst>
              <a:ext uri="{FF2B5EF4-FFF2-40B4-BE49-F238E27FC236}">
                <a16:creationId xmlns:a16="http://schemas.microsoft.com/office/drawing/2014/main" id="{8C94615D-E57E-658D-2E10-07C766215F7D}"/>
              </a:ext>
            </a:extLst>
          </p:cNvPr>
          <p:cNvSpPr txBox="1"/>
          <p:nvPr/>
        </p:nvSpPr>
        <p:spPr>
          <a:xfrm>
            <a:off x="-12701" y="1288097"/>
            <a:ext cx="12192001" cy="583942"/>
          </a:xfrm>
          <a:prstGeom prst="rect">
            <a:avLst/>
          </a:prstGeom>
          <a:noFill/>
        </p:spPr>
        <p:txBody>
          <a:bodyPr wrap="square">
            <a:spAutoFit/>
          </a:bodyPr>
          <a:lstStyle/>
          <a:p>
            <a:pPr marL="342900" lvl="0" indent="-342900" algn="just">
              <a:lnSpc>
                <a:spcPct val="150000"/>
              </a:lnSpc>
              <a:buFont typeface="Arial" panose="020B0604020202020204" pitchFamily="34" charset="0"/>
              <a:buChar char="•"/>
            </a:pPr>
            <a:r>
              <a:rPr lang="en-GB" sz="2400" b="1" dirty="0">
                <a:latin typeface="Avenir Next LT Pro" panose="020B0504020202020204" pitchFamily="34" charset="0"/>
              </a:rPr>
              <a:t>Flood Days</a:t>
            </a:r>
            <a:r>
              <a:rPr lang="en-GB" sz="2400" dirty="0">
                <a:latin typeface="Avenir Next LT Pro" panose="020B0504020202020204" pitchFamily="34" charset="0"/>
              </a:rPr>
              <a:t>: Increases from (7-Day) vs </a:t>
            </a:r>
            <a:r>
              <a:rPr lang="en-GB" sz="2400" b="1" dirty="0">
                <a:latin typeface="Avenir Next LT Pro" panose="020B0504020202020204" pitchFamily="34" charset="0"/>
              </a:rPr>
              <a:t>(5-Day)</a:t>
            </a:r>
            <a:r>
              <a:rPr lang="en-GB" sz="2400" dirty="0">
                <a:latin typeface="Avenir Next LT Pro" panose="020B0504020202020204" pitchFamily="34" charset="0"/>
              </a:rPr>
              <a:t> </a:t>
            </a:r>
            <a:r>
              <a:rPr lang="en-GB" sz="2400" b="1" dirty="0">
                <a:latin typeface="Avenir Next LT Pro" panose="020B0504020202020204" pitchFamily="34" charset="0"/>
              </a:rPr>
              <a:t>+8.27% </a:t>
            </a:r>
            <a:r>
              <a:rPr lang="en-GB" sz="2400" dirty="0">
                <a:latin typeface="Avenir Next LT Pro" panose="020B0504020202020204" pitchFamily="34" charset="0"/>
              </a:rPr>
              <a:t>increase.</a:t>
            </a:r>
            <a:endParaRPr lang="en-GB" sz="2400" b="1" dirty="0">
              <a:latin typeface="Avenir Next LT Pro" panose="020B0504020202020204" pitchFamily="34" charset="0"/>
            </a:endParaRPr>
          </a:p>
        </p:txBody>
      </p:sp>
    </p:spTree>
    <p:extLst>
      <p:ext uri="{BB962C8B-B14F-4D97-AF65-F5344CB8AC3E}">
        <p14:creationId xmlns:p14="http://schemas.microsoft.com/office/powerpoint/2010/main" val="373658302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75E8D0-4C80-9BDA-C285-74A2E8FB3E89}"/>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5B9FBDDE-8179-A154-314C-63AA0987B8D7}"/>
              </a:ext>
            </a:extLst>
          </p:cNvPr>
          <p:cNvSpPr>
            <a:spLocks noGrp="1"/>
          </p:cNvSpPr>
          <p:nvPr>
            <p:ph type="sldNum" sz="quarter" idx="11"/>
          </p:nvPr>
        </p:nvSpPr>
        <p:spPr/>
        <p:txBody>
          <a:bodyPr/>
          <a:lstStyle/>
          <a:p>
            <a:fld id="{2870BB4D-683F-4BE4-9264-B05BE7781C96}" type="slidenum">
              <a:rPr lang="en-GB" smtClean="0"/>
              <a:pPr/>
              <a:t>8</a:t>
            </a:fld>
            <a:endParaRPr lang="en-GB"/>
          </a:p>
        </p:txBody>
      </p:sp>
      <p:sp>
        <p:nvSpPr>
          <p:cNvPr id="4" name="Footer Placeholder 3">
            <a:extLst>
              <a:ext uri="{FF2B5EF4-FFF2-40B4-BE49-F238E27FC236}">
                <a16:creationId xmlns:a16="http://schemas.microsoft.com/office/drawing/2014/main" id="{7FD4CEC1-FF54-86B4-645F-C787C2C3F9D5}"/>
              </a:ext>
            </a:extLst>
          </p:cNvPr>
          <p:cNvSpPr>
            <a:spLocks noGrp="1"/>
          </p:cNvSpPr>
          <p:nvPr>
            <p:ph type="ftr" sz="quarter" idx="12"/>
          </p:nvPr>
        </p:nvSpPr>
        <p:spPr/>
        <p:txBody>
          <a:bodyPr/>
          <a:lstStyle/>
          <a:p>
            <a:r>
              <a:rPr lang="en-GB"/>
              <a:t>Private &amp; Confidential</a:t>
            </a:r>
            <a:endParaRPr lang="en-GB" dirty="0"/>
          </a:p>
        </p:txBody>
      </p:sp>
      <p:sp>
        <p:nvSpPr>
          <p:cNvPr id="8" name="Text Placeholder 1">
            <a:extLst>
              <a:ext uri="{FF2B5EF4-FFF2-40B4-BE49-F238E27FC236}">
                <a16:creationId xmlns:a16="http://schemas.microsoft.com/office/drawing/2014/main" id="{7D4548BA-1000-D124-BC8F-AF25D5294543}"/>
              </a:ext>
            </a:extLst>
          </p:cNvPr>
          <p:cNvSpPr txBox="1">
            <a:spLocks/>
          </p:cNvSpPr>
          <p:nvPr/>
        </p:nvSpPr>
        <p:spPr>
          <a:xfrm>
            <a:off x="160282" y="228263"/>
            <a:ext cx="12010936" cy="540659"/>
          </a:xfrm>
          <a:prstGeom prst="rect">
            <a:avLst/>
          </a:prstGeom>
        </p:spPr>
        <p:txBody>
          <a:bodyPr vert="horz" lIns="91440" tIns="45720" rIns="91440" bIns="45720" rtlCol="0" anchor="ctr"/>
          <a:lstStyle>
            <a:defPPr>
              <a:defRPr lang="en-US"/>
            </a:defPPr>
            <a:lvl1pPr marL="0" algn="ctr" defTabSz="914400" rtl="0" eaLnBrk="1" latinLnBrk="0" hangingPunct="1">
              <a:defRPr sz="1100" kern="1200">
                <a:solidFill>
                  <a:schemeClr val="bg1"/>
                </a:solidFill>
                <a:latin typeface="Avenir Next LT Pro" panose="020B050402020202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just"/>
            <a:r>
              <a:rPr lang="en-GB" sz="3200" b="1" dirty="0">
                <a:solidFill>
                  <a:srgbClr val="240B60"/>
                </a:solidFill>
              </a:rPr>
              <a:t>Verifying 5-Day Triggers</a:t>
            </a:r>
            <a:endParaRPr lang="en-US" sz="3200" b="1" dirty="0">
              <a:solidFill>
                <a:srgbClr val="240B60"/>
              </a:solidFill>
              <a:latin typeface="Cario"/>
            </a:endParaRPr>
          </a:p>
        </p:txBody>
      </p:sp>
      <p:sp>
        <p:nvSpPr>
          <p:cNvPr id="17" name="TextBox 16">
            <a:extLst>
              <a:ext uri="{FF2B5EF4-FFF2-40B4-BE49-F238E27FC236}">
                <a16:creationId xmlns:a16="http://schemas.microsoft.com/office/drawing/2014/main" id="{06AF122B-8C64-839A-FBC9-FD49ACE5BD21}"/>
              </a:ext>
            </a:extLst>
          </p:cNvPr>
          <p:cNvSpPr txBox="1"/>
          <p:nvPr/>
        </p:nvSpPr>
        <p:spPr>
          <a:xfrm>
            <a:off x="412595" y="1442951"/>
            <a:ext cx="11329640" cy="3907929"/>
          </a:xfrm>
          <a:prstGeom prst="rect">
            <a:avLst/>
          </a:prstGeom>
          <a:noFill/>
        </p:spPr>
        <p:txBody>
          <a:bodyPr wrap="square">
            <a:spAutoFit/>
          </a:bodyPr>
          <a:lstStyle/>
          <a:p>
            <a:pPr marL="342900" indent="-342900" algn="just">
              <a:lnSpc>
                <a:spcPct val="150000"/>
              </a:lnSpc>
              <a:buFont typeface="Arial" panose="020B0604020202020204" pitchFamily="34" charset="0"/>
              <a:buChar char="•"/>
            </a:pPr>
            <a:r>
              <a:rPr lang="en-GB" sz="2400" b="1" dirty="0">
                <a:latin typeface="Avenir Next LT Pro" panose="020B0504020202020204" pitchFamily="34" charset="0"/>
              </a:rPr>
              <a:t>Kenya (2018 &amp; 2020 Long Rains): </a:t>
            </a:r>
            <a:r>
              <a:rPr lang="en-GB" sz="2400" dirty="0">
                <a:latin typeface="Avenir Next LT Pro" panose="020B0504020202020204" pitchFamily="34" charset="0"/>
              </a:rPr>
              <a:t>Captured in Garissa, </a:t>
            </a:r>
            <a:r>
              <a:rPr lang="en-GB" sz="2400" dirty="0" err="1">
                <a:latin typeface="Avenir Next LT Pro" panose="020B0504020202020204" pitchFamily="34" charset="0"/>
              </a:rPr>
              <a:t>Budalangi</a:t>
            </a:r>
            <a:r>
              <a:rPr lang="en-GB" sz="2400" dirty="0">
                <a:latin typeface="Avenir Next LT Pro" panose="020B0504020202020204" pitchFamily="34" charset="0"/>
              </a:rPr>
              <a:t>, and </a:t>
            </a:r>
            <a:r>
              <a:rPr lang="en-GB" sz="2400" dirty="0" err="1">
                <a:latin typeface="Avenir Next LT Pro" panose="020B0504020202020204" pitchFamily="34" charset="0"/>
              </a:rPr>
              <a:t>Nyando</a:t>
            </a:r>
            <a:r>
              <a:rPr lang="en-GB" sz="2400" dirty="0">
                <a:latin typeface="Avenir Next LT Pro" panose="020B0504020202020204" pitchFamily="34" charset="0"/>
              </a:rPr>
              <a:t> (UN </a:t>
            </a:r>
            <a:r>
              <a:rPr lang="en-GB" sz="2400" dirty="0" err="1">
                <a:latin typeface="Avenir Next LT Pro" panose="020B0504020202020204" pitchFamily="34" charset="0"/>
              </a:rPr>
              <a:t>ReliefWeb</a:t>
            </a:r>
            <a:r>
              <a:rPr lang="en-GB" sz="2400" dirty="0">
                <a:latin typeface="Avenir Next LT Pro" panose="020B0504020202020204" pitchFamily="34" charset="0"/>
              </a:rPr>
              <a:t> FL-2020-000128-KEN; 200,000+ displaced).</a:t>
            </a:r>
          </a:p>
          <a:p>
            <a:pPr marL="342900" indent="-342900" algn="just">
              <a:lnSpc>
                <a:spcPct val="150000"/>
              </a:lnSpc>
              <a:buFont typeface="Arial" panose="020B0604020202020204" pitchFamily="34" charset="0"/>
              <a:buChar char="•"/>
            </a:pPr>
            <a:r>
              <a:rPr lang="en-GB" sz="2400" b="1" dirty="0">
                <a:latin typeface="Avenir Next LT Pro" panose="020B0504020202020204" pitchFamily="34" charset="0"/>
              </a:rPr>
              <a:t>Malawi (2019 Cyclone Idai &amp; 2023 Cyclone Freddy): </a:t>
            </a:r>
            <a:r>
              <a:rPr lang="en-GB" sz="2400" dirty="0">
                <a:latin typeface="Avenir Next LT Pro" panose="020B0504020202020204" pitchFamily="34" charset="0"/>
              </a:rPr>
              <a:t>Captured in Chikwawa, </a:t>
            </a:r>
            <a:r>
              <a:rPr lang="en-GB" sz="2400" dirty="0" err="1">
                <a:latin typeface="Avenir Next LT Pro" panose="020B0504020202020204" pitchFamily="34" charset="0"/>
              </a:rPr>
              <a:t>Nsaje</a:t>
            </a:r>
            <a:r>
              <a:rPr lang="en-GB" sz="2400" dirty="0">
                <a:latin typeface="Avenir Next LT Pro" panose="020B0504020202020204" pitchFamily="34" charset="0"/>
              </a:rPr>
              <a:t>, and TA </a:t>
            </a:r>
            <a:r>
              <a:rPr lang="en-GB" sz="2400" dirty="0" err="1">
                <a:latin typeface="Avenir Next LT Pro" panose="020B0504020202020204" pitchFamily="34" charset="0"/>
              </a:rPr>
              <a:t>Kuntumanji</a:t>
            </a:r>
            <a:r>
              <a:rPr lang="en-GB" sz="2400" dirty="0">
                <a:latin typeface="Avenir Next LT Pro" panose="020B0504020202020204" pitchFamily="34" charset="0"/>
              </a:rPr>
              <a:t> (UN OCHA TC-2023-000023-MDG; 2.3M affected).</a:t>
            </a:r>
          </a:p>
          <a:p>
            <a:pPr marL="342900" indent="-342900" algn="just">
              <a:lnSpc>
                <a:spcPct val="150000"/>
              </a:lnSpc>
              <a:buFont typeface="Arial" panose="020B0604020202020204" pitchFamily="34" charset="0"/>
              <a:buChar char="•"/>
            </a:pPr>
            <a:r>
              <a:rPr lang="en-GB" sz="2400" b="1" dirty="0">
                <a:latin typeface="Avenir Next LT Pro" panose="020B0504020202020204" pitchFamily="34" charset="0"/>
              </a:rPr>
              <a:t>Nigeria (2012 &amp; 2022 Mega-Floods): </a:t>
            </a:r>
            <a:r>
              <a:rPr lang="en-GB" sz="2400" dirty="0">
                <a:latin typeface="Avenir Next LT Pro" panose="020B0504020202020204" pitchFamily="34" charset="0"/>
              </a:rPr>
              <a:t>Captured days in Lokoja and </a:t>
            </a:r>
            <a:r>
              <a:rPr lang="en-GB" sz="2400" dirty="0" err="1">
                <a:latin typeface="Avenir Next LT Pro" panose="020B0504020202020204" pitchFamily="34" charset="0"/>
              </a:rPr>
              <a:t>Ibaji</a:t>
            </a:r>
            <a:r>
              <a:rPr lang="en-GB" sz="2400" dirty="0">
                <a:latin typeface="Avenir Next LT Pro" panose="020B0504020202020204" pitchFamily="34" charset="0"/>
              </a:rPr>
              <a:t> (</a:t>
            </a:r>
            <a:r>
              <a:rPr lang="en-GB" sz="2400" dirty="0" err="1">
                <a:latin typeface="Avenir Next LT Pro" panose="020B0504020202020204" pitchFamily="34" charset="0"/>
              </a:rPr>
              <a:t>ReliefWeb</a:t>
            </a:r>
            <a:r>
              <a:rPr lang="en-GB" sz="2400" dirty="0">
                <a:latin typeface="Avenir Next LT Pro" panose="020B0504020202020204" pitchFamily="34" charset="0"/>
              </a:rPr>
              <a:t> FL-2012-000138-NGA; 1.69B agricultural damage).</a:t>
            </a:r>
          </a:p>
        </p:txBody>
      </p:sp>
    </p:spTree>
    <p:extLst>
      <p:ext uri="{BB962C8B-B14F-4D97-AF65-F5344CB8AC3E}">
        <p14:creationId xmlns:p14="http://schemas.microsoft.com/office/powerpoint/2010/main" val="317603292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C692E8-BC90-DC79-327D-9EE79B1D19D1}"/>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EF551FF5-6E31-CB6F-65BB-34C3418D3DAA}"/>
              </a:ext>
            </a:extLst>
          </p:cNvPr>
          <p:cNvSpPr>
            <a:spLocks noGrp="1"/>
          </p:cNvSpPr>
          <p:nvPr>
            <p:ph type="sldNum" sz="quarter" idx="11"/>
          </p:nvPr>
        </p:nvSpPr>
        <p:spPr/>
        <p:txBody>
          <a:bodyPr/>
          <a:lstStyle/>
          <a:p>
            <a:fld id="{2870BB4D-683F-4BE4-9264-B05BE7781C96}" type="slidenum">
              <a:rPr lang="en-GB" smtClean="0"/>
              <a:pPr/>
              <a:t>9</a:t>
            </a:fld>
            <a:endParaRPr lang="en-GB"/>
          </a:p>
        </p:txBody>
      </p:sp>
      <p:sp>
        <p:nvSpPr>
          <p:cNvPr id="5" name="Footer Placeholder 4">
            <a:extLst>
              <a:ext uri="{FF2B5EF4-FFF2-40B4-BE49-F238E27FC236}">
                <a16:creationId xmlns:a16="http://schemas.microsoft.com/office/drawing/2014/main" id="{00B3C824-810E-CBD7-4C89-D6DE419176FC}"/>
              </a:ext>
            </a:extLst>
          </p:cNvPr>
          <p:cNvSpPr>
            <a:spLocks noGrp="1"/>
          </p:cNvSpPr>
          <p:nvPr>
            <p:ph type="ftr" sz="quarter" idx="12"/>
          </p:nvPr>
        </p:nvSpPr>
        <p:spPr/>
        <p:txBody>
          <a:bodyPr/>
          <a:lstStyle/>
          <a:p>
            <a:r>
              <a:rPr lang="en-GB" dirty="0"/>
              <a:t>Private &amp; Confidential</a:t>
            </a:r>
          </a:p>
        </p:txBody>
      </p:sp>
      <p:sp>
        <p:nvSpPr>
          <p:cNvPr id="6" name="Title 5">
            <a:extLst>
              <a:ext uri="{FF2B5EF4-FFF2-40B4-BE49-F238E27FC236}">
                <a16:creationId xmlns:a16="http://schemas.microsoft.com/office/drawing/2014/main" id="{9F8EC6C4-4517-738C-B302-8595126B9458}"/>
              </a:ext>
            </a:extLst>
          </p:cNvPr>
          <p:cNvSpPr>
            <a:spLocks noGrp="1"/>
          </p:cNvSpPr>
          <p:nvPr>
            <p:ph type="title"/>
          </p:nvPr>
        </p:nvSpPr>
        <p:spPr>
          <a:xfrm>
            <a:off x="187183" y="109562"/>
            <a:ext cx="11783143" cy="557949"/>
          </a:xfrm>
        </p:spPr>
        <p:txBody>
          <a:bodyPr>
            <a:noAutofit/>
          </a:bodyPr>
          <a:lstStyle/>
          <a:p>
            <a:r>
              <a:rPr lang="en-GB" sz="3200" dirty="0">
                <a:latin typeface="Avenir Next LT Pro" panose="020B0504020202020204" pitchFamily="34" charset="0"/>
              </a:rPr>
              <a:t>Spatial Clustering</a:t>
            </a:r>
            <a:endParaRPr lang="en-GB" sz="2800" dirty="0">
              <a:latin typeface="Avenir Next LT Pro" panose="020B0504020202020204" pitchFamily="34" charset="0"/>
            </a:endParaRPr>
          </a:p>
        </p:txBody>
      </p:sp>
      <p:pic>
        <p:nvPicPr>
          <p:cNvPr id="7" name="Picture 6">
            <a:extLst>
              <a:ext uri="{FF2B5EF4-FFF2-40B4-BE49-F238E27FC236}">
                <a16:creationId xmlns:a16="http://schemas.microsoft.com/office/drawing/2014/main" id="{0EE46B6B-87B3-AFA9-9883-4C1FEF28DE30}"/>
              </a:ext>
            </a:extLst>
          </p:cNvPr>
          <p:cNvPicPr>
            <a:picLocks noChangeAspect="1"/>
          </p:cNvPicPr>
          <p:nvPr/>
        </p:nvPicPr>
        <p:blipFill>
          <a:blip r:embed="rId3">
            <a:extLst>
              <a:ext uri="{28A0092B-C50C-407E-A947-70E740481C1C}">
                <a14:useLocalDpi xmlns:a14="http://schemas.microsoft.com/office/drawing/2010/main" val="0"/>
              </a:ext>
            </a:extLst>
          </a:blip>
          <a:srcRect l="46099" t="17233" b="5513"/>
          <a:stretch>
            <a:fillRect/>
          </a:stretch>
        </p:blipFill>
        <p:spPr>
          <a:xfrm>
            <a:off x="7037407" y="1310988"/>
            <a:ext cx="5143439" cy="4914532"/>
          </a:xfrm>
          <a:prstGeom prst="rect">
            <a:avLst/>
          </a:prstGeom>
        </p:spPr>
      </p:pic>
      <p:sp>
        <p:nvSpPr>
          <p:cNvPr id="3" name="Text Placeholder 2">
            <a:extLst>
              <a:ext uri="{FF2B5EF4-FFF2-40B4-BE49-F238E27FC236}">
                <a16:creationId xmlns:a16="http://schemas.microsoft.com/office/drawing/2014/main" id="{4783CC30-3C7E-EDF0-6318-E743740385CE}"/>
              </a:ext>
            </a:extLst>
          </p:cNvPr>
          <p:cNvSpPr>
            <a:spLocks noGrp="1"/>
          </p:cNvSpPr>
          <p:nvPr>
            <p:ph type="body" sz="half" idx="2"/>
          </p:nvPr>
        </p:nvSpPr>
        <p:spPr>
          <a:xfrm>
            <a:off x="11153" y="1338146"/>
            <a:ext cx="7142001" cy="4884234"/>
          </a:xfrm>
          <a:noFill/>
        </p:spPr>
        <p:txBody>
          <a:bodyPr/>
          <a:lstStyle/>
          <a:p>
            <a:pPr marL="342900" lvl="0" indent="-342900" algn="just">
              <a:lnSpc>
                <a:spcPct val="150000"/>
              </a:lnSpc>
              <a:buFont typeface="Arial" panose="020B0604020202020204" pitchFamily="34" charset="0"/>
              <a:buChar char="•"/>
            </a:pPr>
            <a:r>
              <a:rPr lang="en-GB" sz="2400" b="1" dirty="0"/>
              <a:t>Ward’s Minimum Variance Linkage Criterion: </a:t>
            </a:r>
            <a:r>
              <a:rPr lang="en-GB" sz="2400" dirty="0"/>
              <a:t>Minimizes within-cluster variance, producing compact, spatially contiguous risk pools.</a:t>
            </a:r>
          </a:p>
          <a:p>
            <a:pPr marL="342900" lvl="0" indent="-342900" algn="just">
              <a:lnSpc>
                <a:spcPct val="150000"/>
              </a:lnSpc>
              <a:buFont typeface="Arial" panose="020B0604020202020204" pitchFamily="34" charset="0"/>
              <a:buChar char="•"/>
            </a:pPr>
            <a:r>
              <a:rPr lang="en-GB" sz="2400" b="1" dirty="0"/>
              <a:t>Automated Silhouette Score Optimization (K=2 : 15)</a:t>
            </a:r>
            <a:r>
              <a:rPr lang="en-GB" sz="2400" dirty="0"/>
              <a:t>: </a:t>
            </a:r>
            <a:r>
              <a:rPr lang="en-GB" sz="2400" b="1" dirty="0"/>
              <a:t>70% Geo / 30% Weather gives</a:t>
            </a:r>
            <a:r>
              <a:rPr lang="en-GB" sz="2400" dirty="0"/>
              <a:t> </a:t>
            </a:r>
            <a:r>
              <a:rPr lang="en-GB" sz="2400" b="1" dirty="0"/>
              <a:t>Optimal K = 10</a:t>
            </a:r>
            <a:r>
              <a:rPr lang="en-GB" sz="2400" dirty="0"/>
              <a:t> (Silhouette: 0.4886).</a:t>
            </a:r>
          </a:p>
          <a:p>
            <a:pPr marL="342900" lvl="0" indent="-342900" algn="just">
              <a:lnSpc>
                <a:spcPct val="150000"/>
              </a:lnSpc>
              <a:buFont typeface="Arial" panose="020B0604020202020204" pitchFamily="34" charset="0"/>
              <a:buChar char="•"/>
            </a:pPr>
            <a:r>
              <a:rPr lang="en-GB" sz="2400" dirty="0"/>
              <a:t>Groups Africa into </a:t>
            </a:r>
            <a:r>
              <a:rPr lang="en-GB" sz="2400" b="1" dirty="0"/>
              <a:t>10 distinct, hydrological zones</a:t>
            </a:r>
            <a:r>
              <a:rPr lang="en-GB" sz="2400" dirty="0"/>
              <a:t>. </a:t>
            </a:r>
          </a:p>
        </p:txBody>
      </p:sp>
    </p:spTree>
    <p:extLst>
      <p:ext uri="{BB962C8B-B14F-4D97-AF65-F5344CB8AC3E}">
        <p14:creationId xmlns:p14="http://schemas.microsoft.com/office/powerpoint/2010/main" val="186148794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09C57F7C-DC9D-950A-BA5B-20B347CCCC27}"/>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83083008-95DA-814C-C09C-610A9C24DA9E}"/>
              </a:ext>
            </a:extLst>
          </p:cNvPr>
          <p:cNvSpPr>
            <a:spLocks noGrp="1"/>
          </p:cNvSpPr>
          <p:nvPr>
            <p:ph type="body" sz="half" idx="2"/>
          </p:nvPr>
        </p:nvSpPr>
        <p:spPr>
          <a:xfrm>
            <a:off x="181063" y="564746"/>
            <a:ext cx="11829874" cy="5579576"/>
          </a:xfrm>
          <a:solidFill>
            <a:schemeClr val="bg1"/>
          </a:solidFill>
        </p:spPr>
        <p:txBody>
          <a:bodyPr/>
          <a:lstStyle/>
          <a:p>
            <a:pPr lvl="0" algn="just">
              <a:lnSpc>
                <a:spcPct val="150000"/>
              </a:lnSpc>
            </a:pPr>
            <a:r>
              <a:rPr lang="en-GB" sz="2400" b="1" dirty="0"/>
              <a:t>Automated Silhouette Score Optimization (K=2 : 15)</a:t>
            </a:r>
            <a:r>
              <a:rPr lang="en-GB" sz="2400" dirty="0"/>
              <a:t>:</a:t>
            </a:r>
          </a:p>
          <a:p>
            <a:pPr lvl="0" algn="just">
              <a:lnSpc>
                <a:spcPct val="150000"/>
              </a:lnSpc>
            </a:pPr>
            <a:r>
              <a:rPr lang="en-GB" sz="2400" b="1" strike="sngStrike" dirty="0"/>
              <a:t>Method 1: 60% Geo / 40% Weather,</a:t>
            </a:r>
            <a:r>
              <a:rPr lang="en-GB" sz="2400" strike="sngStrike" dirty="0"/>
              <a:t> </a:t>
            </a:r>
            <a:r>
              <a:rPr lang="en-GB" sz="2400" b="1" strike="sngStrike" dirty="0"/>
              <a:t>Optimal K = 6</a:t>
            </a:r>
            <a:r>
              <a:rPr lang="en-GB" sz="2400" strike="sngStrike" dirty="0"/>
              <a:t> (Silhouette: 0.4731):</a:t>
            </a:r>
          </a:p>
          <a:p>
            <a:pPr lvl="0" algn="just">
              <a:lnSpc>
                <a:spcPct val="150000"/>
              </a:lnSpc>
            </a:pPr>
            <a:r>
              <a:rPr lang="en-GB" sz="2400" strike="sngStrike" dirty="0"/>
              <a:t>Groups Africa into 6 macro-regional belts (Sahel, West Coast, Greater Horn, Zambezi Basin, Southern Arid, High Veld). Highly aggregated; good for continental macro-treaties.</a:t>
            </a:r>
          </a:p>
          <a:p>
            <a:pPr lvl="0" algn="just">
              <a:lnSpc>
                <a:spcPct val="150000"/>
              </a:lnSpc>
            </a:pPr>
            <a:r>
              <a:rPr lang="en-GB" sz="2400" b="1" dirty="0"/>
              <a:t>Method 2: 70% Geo / 30% Weather</a:t>
            </a:r>
            <a:r>
              <a:rPr lang="en-GB" sz="2400" dirty="0"/>
              <a:t> </a:t>
            </a:r>
            <a:r>
              <a:rPr lang="en-GB" sz="2400" b="1" dirty="0"/>
              <a:t>Optimal K = 10</a:t>
            </a:r>
            <a:r>
              <a:rPr lang="en-GB" sz="2400" dirty="0"/>
              <a:t> (Silhouette: 0.4886):</a:t>
            </a:r>
          </a:p>
          <a:p>
            <a:pPr lvl="0" algn="just">
              <a:lnSpc>
                <a:spcPct val="150000"/>
              </a:lnSpc>
            </a:pPr>
            <a:r>
              <a:rPr lang="en-GB" sz="2400" dirty="0"/>
              <a:t>Groups Africa into </a:t>
            </a:r>
            <a:r>
              <a:rPr lang="en-GB" sz="2400" b="1" dirty="0"/>
              <a:t>10 distinct, hydrological zones</a:t>
            </a:r>
            <a:r>
              <a:rPr lang="en-GB" sz="2400" dirty="0"/>
              <a:t>.</a:t>
            </a:r>
          </a:p>
          <a:p>
            <a:pPr lvl="0" algn="just">
              <a:lnSpc>
                <a:spcPct val="150000"/>
              </a:lnSpc>
            </a:pPr>
            <a:r>
              <a:rPr lang="en-GB" sz="2400" dirty="0"/>
              <a:t>Higher Silhouette score (0.4886 vs 0.4731), proving stronger cluster and separation.</a:t>
            </a:r>
          </a:p>
        </p:txBody>
      </p:sp>
      <p:sp>
        <p:nvSpPr>
          <p:cNvPr id="4" name="Slide Number Placeholder 3">
            <a:extLst>
              <a:ext uri="{FF2B5EF4-FFF2-40B4-BE49-F238E27FC236}">
                <a16:creationId xmlns:a16="http://schemas.microsoft.com/office/drawing/2014/main" id="{6E3D5AEB-F4A6-87DF-A51E-4372AC5C5765}"/>
              </a:ext>
            </a:extLst>
          </p:cNvPr>
          <p:cNvSpPr>
            <a:spLocks noGrp="1"/>
          </p:cNvSpPr>
          <p:nvPr>
            <p:ph type="sldNum" sz="quarter" idx="11"/>
          </p:nvPr>
        </p:nvSpPr>
        <p:spPr/>
        <p:txBody>
          <a:bodyPr/>
          <a:lstStyle/>
          <a:p>
            <a:fld id="{2870BB4D-683F-4BE4-9264-B05BE7781C96}" type="slidenum">
              <a:rPr lang="en-GB" smtClean="0"/>
              <a:pPr/>
              <a:t>10</a:t>
            </a:fld>
            <a:endParaRPr lang="en-GB"/>
          </a:p>
        </p:txBody>
      </p:sp>
      <p:sp>
        <p:nvSpPr>
          <p:cNvPr id="5" name="Footer Placeholder 4">
            <a:extLst>
              <a:ext uri="{FF2B5EF4-FFF2-40B4-BE49-F238E27FC236}">
                <a16:creationId xmlns:a16="http://schemas.microsoft.com/office/drawing/2014/main" id="{5BB86CAB-BD74-BCE6-EB8D-8DEDAF83CFFE}"/>
              </a:ext>
            </a:extLst>
          </p:cNvPr>
          <p:cNvSpPr>
            <a:spLocks noGrp="1"/>
          </p:cNvSpPr>
          <p:nvPr>
            <p:ph type="ftr" sz="quarter" idx="12"/>
          </p:nvPr>
        </p:nvSpPr>
        <p:spPr/>
        <p:txBody>
          <a:bodyPr/>
          <a:lstStyle/>
          <a:p>
            <a:r>
              <a:rPr lang="en-GB" dirty="0"/>
              <a:t>Private &amp; Confidential</a:t>
            </a:r>
          </a:p>
        </p:txBody>
      </p:sp>
      <p:sp>
        <p:nvSpPr>
          <p:cNvPr id="6" name="Title 5">
            <a:extLst>
              <a:ext uri="{FF2B5EF4-FFF2-40B4-BE49-F238E27FC236}">
                <a16:creationId xmlns:a16="http://schemas.microsoft.com/office/drawing/2014/main" id="{2D2D3089-1D22-71F3-F9AC-C4AB1AE2EF8B}"/>
              </a:ext>
            </a:extLst>
          </p:cNvPr>
          <p:cNvSpPr>
            <a:spLocks noGrp="1"/>
          </p:cNvSpPr>
          <p:nvPr>
            <p:ph type="title"/>
          </p:nvPr>
        </p:nvSpPr>
        <p:spPr>
          <a:xfrm>
            <a:off x="71871" y="122498"/>
            <a:ext cx="11939066" cy="437458"/>
          </a:xfrm>
        </p:spPr>
        <p:txBody>
          <a:bodyPr>
            <a:noAutofit/>
          </a:bodyPr>
          <a:lstStyle/>
          <a:p>
            <a:r>
              <a:rPr lang="en-GB" sz="3200" dirty="0">
                <a:latin typeface="Avenir Next LT Pro" panose="020B0504020202020204" pitchFamily="34" charset="0"/>
              </a:rPr>
              <a:t>Clustering Comparison: 60/40 vs. 70/30 Weightings</a:t>
            </a:r>
          </a:p>
        </p:txBody>
      </p:sp>
    </p:spTree>
    <p:extLst>
      <p:ext uri="{BB962C8B-B14F-4D97-AF65-F5344CB8AC3E}">
        <p14:creationId xmlns:p14="http://schemas.microsoft.com/office/powerpoint/2010/main" val="302702926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9CE51D24-E20C-C3B7-E5F8-8D84D7511441}"/>
              </a:ext>
            </a:extLst>
          </p:cNvPr>
          <p:cNvSpPr>
            <a:spLocks noGrp="1"/>
          </p:cNvSpPr>
          <p:nvPr>
            <p:ph idx="1"/>
          </p:nvPr>
        </p:nvSpPr>
        <p:spPr>
          <a:xfrm>
            <a:off x="307034" y="1326326"/>
            <a:ext cx="11605566" cy="5178384"/>
          </a:xfrm>
        </p:spPr>
        <p:txBody>
          <a:bodyPr/>
          <a:lstStyle/>
          <a:p>
            <a:pPr lvl="0" algn="just">
              <a:lnSpc>
                <a:spcPct val="100000"/>
              </a:lnSpc>
            </a:pPr>
            <a:r>
              <a:rPr lang="en-GB" sz="2000" b="1" dirty="0" err="1"/>
              <a:t>Albergel</a:t>
            </a:r>
            <a:r>
              <a:rPr lang="en-GB" sz="2000" b="1" dirty="0"/>
              <a:t>, C., Rüdiger, C., Pellarin, L. et al. (2008)</a:t>
            </a:r>
            <a:r>
              <a:rPr lang="en-GB" sz="2000" dirty="0"/>
              <a:t>. </a:t>
            </a:r>
            <a:r>
              <a:rPr lang="en-GB" sz="2000" i="1" dirty="0"/>
              <a:t>From ASCAT surface soil moisture to the Soil Water Index: a case study over France</a:t>
            </a:r>
            <a:r>
              <a:rPr lang="en-GB" sz="2000" dirty="0"/>
              <a:t>. Hydrology and Earth System Sciences, 12(2), pp. 425–436.</a:t>
            </a:r>
          </a:p>
          <a:p>
            <a:pPr lvl="0" algn="just">
              <a:lnSpc>
                <a:spcPct val="100000"/>
              </a:lnSpc>
            </a:pPr>
            <a:r>
              <a:rPr lang="en-GB" sz="2000" b="1" dirty="0" err="1"/>
              <a:t>Carrão</a:t>
            </a:r>
            <a:r>
              <a:rPr lang="en-GB" sz="2000" b="1" dirty="0"/>
              <a:t>, H., Naumann, G. and Barbosa, P. (2016)</a:t>
            </a:r>
            <a:r>
              <a:rPr lang="en-GB" sz="2000" dirty="0"/>
              <a:t>. </a:t>
            </a:r>
            <a:r>
              <a:rPr lang="en-GB" sz="2000" i="1" dirty="0"/>
              <a:t>Mapping global patterns of drought risk: An empirical framework based on sub-national estimates</a:t>
            </a:r>
            <a:r>
              <a:rPr lang="en-GB" sz="2000" dirty="0"/>
              <a:t>. Global Environmental Change, 39, pp. 108–124.</a:t>
            </a:r>
          </a:p>
          <a:p>
            <a:pPr lvl="0" algn="just">
              <a:lnSpc>
                <a:spcPct val="100000"/>
              </a:lnSpc>
            </a:pPr>
            <a:r>
              <a:rPr lang="en-GB" sz="2000" b="1" dirty="0"/>
              <a:t>Duque, J.C., </a:t>
            </a:r>
            <a:r>
              <a:rPr lang="en-GB" sz="2000" b="1" dirty="0" err="1"/>
              <a:t>Anselin</a:t>
            </a:r>
            <a:r>
              <a:rPr lang="en-GB" sz="2000" b="1" dirty="0"/>
              <a:t>, L. and Rey, S.J. (2012)</a:t>
            </a:r>
            <a:r>
              <a:rPr lang="en-GB" sz="2000" dirty="0"/>
              <a:t>. </a:t>
            </a:r>
            <a:r>
              <a:rPr lang="en-GB" sz="2000" i="1" dirty="0"/>
              <a:t>The max-p-regions problem</a:t>
            </a:r>
            <a:r>
              <a:rPr lang="en-GB" sz="2000" dirty="0"/>
              <a:t>. Journal of Regional Science, 52(3), pp. 397–419.</a:t>
            </a:r>
          </a:p>
          <a:p>
            <a:pPr lvl="0" algn="just">
              <a:lnSpc>
                <a:spcPct val="100000"/>
              </a:lnSpc>
            </a:pPr>
            <a:r>
              <a:rPr lang="en-GB" sz="2000" b="1" dirty="0"/>
              <a:t>Feddes, R.A., Kowalik, P.J. and </a:t>
            </a:r>
            <a:r>
              <a:rPr lang="en-GB" sz="2000" b="1" dirty="0" err="1"/>
              <a:t>Zaradny</a:t>
            </a:r>
            <a:r>
              <a:rPr lang="en-GB" sz="2000" b="1" dirty="0"/>
              <a:t>, H. (1978)</a:t>
            </a:r>
            <a:r>
              <a:rPr lang="en-GB" sz="2000" dirty="0"/>
              <a:t>. </a:t>
            </a:r>
            <a:r>
              <a:rPr lang="en-GB" sz="2000" i="1" dirty="0"/>
              <a:t>Simulation of Field Water Use and Crop Yield</a:t>
            </a:r>
            <a:r>
              <a:rPr lang="en-GB" sz="2000" dirty="0"/>
              <a:t>. Wageningen </a:t>
            </a:r>
            <a:r>
              <a:rPr lang="en-GB" sz="2000" dirty="0" err="1"/>
              <a:t>Center</a:t>
            </a:r>
            <a:r>
              <a:rPr lang="en-GB" sz="2000" dirty="0"/>
              <a:t> for Agricultural Publishing and Documentation.</a:t>
            </a:r>
          </a:p>
          <a:p>
            <a:pPr lvl="0" algn="just">
              <a:lnSpc>
                <a:spcPct val="100000"/>
              </a:lnSpc>
            </a:pPr>
            <a:r>
              <a:rPr lang="en-GB" sz="2000" b="1" dirty="0"/>
              <a:t>GEOGLAM (2024)</a:t>
            </a:r>
            <a:r>
              <a:rPr lang="en-GB" sz="2000" dirty="0"/>
              <a:t>. </a:t>
            </a:r>
            <a:r>
              <a:rPr lang="en-GB" sz="2000" i="1" dirty="0"/>
              <a:t>Crop Monitor for Early Warning (CM4EW) Calendars V1.4</a:t>
            </a:r>
            <a:r>
              <a:rPr lang="en-GB" sz="2000" dirty="0"/>
              <a:t>. Group on Earth Observations Global Agricultural Monitoring.</a:t>
            </a:r>
          </a:p>
          <a:p>
            <a:pPr lvl="0" algn="just">
              <a:lnSpc>
                <a:spcPct val="100000"/>
              </a:lnSpc>
            </a:pPr>
            <a:r>
              <a:rPr lang="en-GB" sz="2000" b="1" dirty="0"/>
              <a:t>Kaur, R., Bains, N.S. et al. (2020)</a:t>
            </a:r>
            <a:r>
              <a:rPr lang="en-GB" sz="2000" dirty="0"/>
              <a:t>. </a:t>
            </a:r>
            <a:r>
              <a:rPr lang="en-GB" sz="2000" i="1" dirty="0"/>
              <a:t>Impacts and management strategies for crop production in waterlogged or flooded soils</a:t>
            </a:r>
            <a:r>
              <a:rPr lang="en-GB" sz="2000" dirty="0"/>
              <a:t>. Agronomy Journal, 112(3), pp. 1475–1499.</a:t>
            </a:r>
          </a:p>
        </p:txBody>
      </p:sp>
      <p:sp>
        <p:nvSpPr>
          <p:cNvPr id="3" name="Slide Number Placeholder 2">
            <a:extLst>
              <a:ext uri="{FF2B5EF4-FFF2-40B4-BE49-F238E27FC236}">
                <a16:creationId xmlns:a16="http://schemas.microsoft.com/office/drawing/2014/main" id="{B39B0E71-4627-3E71-7027-D77FC31E8460}"/>
              </a:ext>
            </a:extLst>
          </p:cNvPr>
          <p:cNvSpPr>
            <a:spLocks noGrp="1"/>
          </p:cNvSpPr>
          <p:nvPr>
            <p:ph type="sldNum" sz="quarter" idx="11"/>
          </p:nvPr>
        </p:nvSpPr>
        <p:spPr/>
        <p:txBody>
          <a:bodyPr/>
          <a:lstStyle/>
          <a:p>
            <a:fld id="{2870BB4D-683F-4BE4-9264-B05BE7781C96}" type="slidenum">
              <a:rPr lang="en-GB" smtClean="0"/>
              <a:pPr/>
              <a:t>11</a:t>
            </a:fld>
            <a:endParaRPr lang="en-GB"/>
          </a:p>
        </p:txBody>
      </p:sp>
      <p:sp>
        <p:nvSpPr>
          <p:cNvPr id="4" name="Footer Placeholder 3">
            <a:extLst>
              <a:ext uri="{FF2B5EF4-FFF2-40B4-BE49-F238E27FC236}">
                <a16:creationId xmlns:a16="http://schemas.microsoft.com/office/drawing/2014/main" id="{CA367B01-C529-97FC-E9F8-046E6FAA3B4B}"/>
              </a:ext>
            </a:extLst>
          </p:cNvPr>
          <p:cNvSpPr>
            <a:spLocks noGrp="1"/>
          </p:cNvSpPr>
          <p:nvPr>
            <p:ph type="ftr" sz="quarter" idx="12"/>
          </p:nvPr>
        </p:nvSpPr>
        <p:spPr/>
        <p:txBody>
          <a:bodyPr/>
          <a:lstStyle/>
          <a:p>
            <a:r>
              <a:rPr lang="en-GB"/>
              <a:t>Private &amp; Confidential</a:t>
            </a:r>
            <a:endParaRPr lang="en-GB" dirty="0"/>
          </a:p>
        </p:txBody>
      </p:sp>
      <p:sp>
        <p:nvSpPr>
          <p:cNvPr id="5" name="Title 4">
            <a:extLst>
              <a:ext uri="{FF2B5EF4-FFF2-40B4-BE49-F238E27FC236}">
                <a16:creationId xmlns:a16="http://schemas.microsoft.com/office/drawing/2014/main" id="{2A2D7C7B-A1EC-E878-AC22-99D1705E63EB}"/>
              </a:ext>
            </a:extLst>
          </p:cNvPr>
          <p:cNvSpPr>
            <a:spLocks noGrp="1"/>
          </p:cNvSpPr>
          <p:nvPr>
            <p:ph type="title"/>
          </p:nvPr>
        </p:nvSpPr>
        <p:spPr>
          <a:xfrm>
            <a:off x="307032" y="381180"/>
            <a:ext cx="4417365" cy="614326"/>
          </a:xfrm>
        </p:spPr>
        <p:txBody>
          <a:bodyPr>
            <a:noAutofit/>
          </a:bodyPr>
          <a:lstStyle/>
          <a:p>
            <a:r>
              <a:rPr lang="en-GB" sz="4800" b="1" dirty="0">
                <a:latin typeface="Avenir Next LT Pro" panose="020B0504020202020204" pitchFamily="34" charset="0"/>
              </a:rPr>
              <a:t>References:</a:t>
            </a:r>
            <a:endParaRPr lang="en-GB" sz="4800" dirty="0">
              <a:latin typeface="Avenir Next LT Pro" panose="020B0504020202020204" pitchFamily="34" charset="0"/>
            </a:endParaRPr>
          </a:p>
        </p:txBody>
      </p:sp>
    </p:spTree>
    <p:extLst>
      <p:ext uri="{BB962C8B-B14F-4D97-AF65-F5344CB8AC3E}">
        <p14:creationId xmlns:p14="http://schemas.microsoft.com/office/powerpoint/2010/main" val="201099584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ABE556-AC80-EF44-F4E0-29CD1597C2D3}"/>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7755FB5D-1733-0145-19F8-77EFBEAD56A6}"/>
              </a:ext>
            </a:extLst>
          </p:cNvPr>
          <p:cNvSpPr>
            <a:spLocks noGrp="1"/>
          </p:cNvSpPr>
          <p:nvPr>
            <p:ph idx="1"/>
          </p:nvPr>
        </p:nvSpPr>
        <p:spPr>
          <a:xfrm>
            <a:off x="307034" y="1326326"/>
            <a:ext cx="11605566" cy="5178384"/>
          </a:xfrm>
        </p:spPr>
        <p:txBody>
          <a:bodyPr/>
          <a:lstStyle/>
          <a:p>
            <a:pPr lvl="0" algn="just">
              <a:lnSpc>
                <a:spcPct val="100000"/>
              </a:lnSpc>
            </a:pPr>
            <a:r>
              <a:rPr lang="en-GB" sz="2000" b="1" dirty="0"/>
              <a:t>Murtagh, F. and Legendre, P. (2014)</a:t>
            </a:r>
            <a:r>
              <a:rPr lang="en-GB" sz="2000" dirty="0"/>
              <a:t>. </a:t>
            </a:r>
            <a:r>
              <a:rPr lang="en-GB" sz="2000" i="1" dirty="0"/>
              <a:t>Ward’s Hierarchical Agglomerative Clustering Method: Which Algorithms Implement Ward’s Criterion?</a:t>
            </a:r>
            <a:r>
              <a:rPr lang="en-GB" sz="2000" dirty="0"/>
              <a:t> Journal of Classification, 31(3), pp. 274–295.</a:t>
            </a:r>
          </a:p>
          <a:p>
            <a:pPr lvl="0" algn="just">
              <a:lnSpc>
                <a:spcPct val="100000"/>
              </a:lnSpc>
            </a:pPr>
            <a:r>
              <a:rPr lang="en-GB" sz="2000" b="1" dirty="0"/>
              <a:t>Ren, B., Zhang, J. et al. (2014)</a:t>
            </a:r>
            <a:r>
              <a:rPr lang="en-GB" sz="2000" dirty="0"/>
              <a:t>. </a:t>
            </a:r>
            <a:r>
              <a:rPr lang="en-GB" sz="2000" i="1" dirty="0"/>
              <a:t>Effects of waterlogging on grain yield and photosynthetic characteristics of summer maize</a:t>
            </a:r>
            <a:r>
              <a:rPr lang="en-GB" sz="2000" dirty="0"/>
              <a:t>. Journal of Agronomy and Crop Science, 200(4), pp. 255–263.</a:t>
            </a:r>
          </a:p>
          <a:p>
            <a:pPr lvl="0" algn="just">
              <a:lnSpc>
                <a:spcPct val="100000"/>
              </a:lnSpc>
            </a:pPr>
            <a:r>
              <a:rPr lang="en-GB" sz="2000" b="1" dirty="0"/>
              <a:t>Ward, J.H. (1963)</a:t>
            </a:r>
            <a:r>
              <a:rPr lang="en-GB" sz="2000" dirty="0"/>
              <a:t>. </a:t>
            </a:r>
            <a:r>
              <a:rPr lang="en-GB" sz="2000" i="1" dirty="0"/>
              <a:t>Hierarchical Grouping to Optimize an Objective Function</a:t>
            </a:r>
            <a:r>
              <a:rPr lang="en-GB" sz="2000" dirty="0"/>
              <a:t>. Journal of the American Statistical Association, 58(301), pp. 236–244.</a:t>
            </a:r>
          </a:p>
          <a:p>
            <a:pPr lvl="0" algn="just">
              <a:lnSpc>
                <a:spcPct val="100000"/>
              </a:lnSpc>
            </a:pPr>
            <a:r>
              <a:rPr lang="en-GB" sz="2000" b="1" dirty="0"/>
              <a:t>World Meteorological Organization (WMO) (2012)</a:t>
            </a:r>
            <a:r>
              <a:rPr lang="en-GB" sz="2000" dirty="0"/>
              <a:t>. </a:t>
            </a:r>
            <a:r>
              <a:rPr lang="en-GB" sz="2000" i="1" dirty="0"/>
              <a:t>Standardized Indices and Hazard Threshold User Guide</a:t>
            </a:r>
            <a:r>
              <a:rPr lang="en-GB" sz="2000" dirty="0"/>
              <a:t>. WMO-No. 1090, Geneva.</a:t>
            </a:r>
          </a:p>
          <a:p>
            <a:pPr lvl="0" algn="just">
              <a:lnSpc>
                <a:spcPct val="100000"/>
              </a:lnSpc>
            </a:pPr>
            <a:r>
              <a:rPr lang="en-GB" sz="2000" b="1" dirty="0"/>
              <a:t>Zhang, Y., Chen, X. et al. (2023)</a:t>
            </a:r>
            <a:r>
              <a:rPr lang="en-GB" sz="2000" dirty="0"/>
              <a:t>. </a:t>
            </a:r>
            <a:r>
              <a:rPr lang="en-GB" sz="2000" i="1" dirty="0"/>
              <a:t>Maize Waterlogging Thresholds and Yield Loss Sensitivity during Vegetative Growth</a:t>
            </a:r>
            <a:r>
              <a:rPr lang="en-GB" sz="2000" dirty="0"/>
              <a:t>. Agricultural Water Management, 275, p. 107980.</a:t>
            </a:r>
          </a:p>
        </p:txBody>
      </p:sp>
      <p:sp>
        <p:nvSpPr>
          <p:cNvPr id="3" name="Slide Number Placeholder 2">
            <a:extLst>
              <a:ext uri="{FF2B5EF4-FFF2-40B4-BE49-F238E27FC236}">
                <a16:creationId xmlns:a16="http://schemas.microsoft.com/office/drawing/2014/main" id="{BC02786C-7CEA-E44A-FEA8-32BFA8184F80}"/>
              </a:ext>
            </a:extLst>
          </p:cNvPr>
          <p:cNvSpPr>
            <a:spLocks noGrp="1"/>
          </p:cNvSpPr>
          <p:nvPr>
            <p:ph type="sldNum" sz="quarter" idx="11"/>
          </p:nvPr>
        </p:nvSpPr>
        <p:spPr/>
        <p:txBody>
          <a:bodyPr/>
          <a:lstStyle/>
          <a:p>
            <a:fld id="{2870BB4D-683F-4BE4-9264-B05BE7781C96}" type="slidenum">
              <a:rPr lang="en-GB" smtClean="0"/>
              <a:pPr/>
              <a:t>12</a:t>
            </a:fld>
            <a:endParaRPr lang="en-GB"/>
          </a:p>
        </p:txBody>
      </p:sp>
      <p:sp>
        <p:nvSpPr>
          <p:cNvPr id="4" name="Footer Placeholder 3">
            <a:extLst>
              <a:ext uri="{FF2B5EF4-FFF2-40B4-BE49-F238E27FC236}">
                <a16:creationId xmlns:a16="http://schemas.microsoft.com/office/drawing/2014/main" id="{F206FFB5-0C20-73D1-F72D-39F341176A7F}"/>
              </a:ext>
            </a:extLst>
          </p:cNvPr>
          <p:cNvSpPr>
            <a:spLocks noGrp="1"/>
          </p:cNvSpPr>
          <p:nvPr>
            <p:ph type="ftr" sz="quarter" idx="12"/>
          </p:nvPr>
        </p:nvSpPr>
        <p:spPr/>
        <p:txBody>
          <a:bodyPr/>
          <a:lstStyle/>
          <a:p>
            <a:r>
              <a:rPr lang="en-GB"/>
              <a:t>Private &amp; Confidential</a:t>
            </a:r>
            <a:endParaRPr lang="en-GB" dirty="0"/>
          </a:p>
        </p:txBody>
      </p:sp>
      <p:sp>
        <p:nvSpPr>
          <p:cNvPr id="5" name="Title 4">
            <a:extLst>
              <a:ext uri="{FF2B5EF4-FFF2-40B4-BE49-F238E27FC236}">
                <a16:creationId xmlns:a16="http://schemas.microsoft.com/office/drawing/2014/main" id="{EAE6F142-B152-05E3-68CA-AE4C804B5FD5}"/>
              </a:ext>
            </a:extLst>
          </p:cNvPr>
          <p:cNvSpPr>
            <a:spLocks noGrp="1"/>
          </p:cNvSpPr>
          <p:nvPr>
            <p:ph type="title"/>
          </p:nvPr>
        </p:nvSpPr>
        <p:spPr>
          <a:xfrm>
            <a:off x="307032" y="381179"/>
            <a:ext cx="5788968" cy="707936"/>
          </a:xfrm>
        </p:spPr>
        <p:txBody>
          <a:bodyPr>
            <a:noAutofit/>
          </a:bodyPr>
          <a:lstStyle/>
          <a:p>
            <a:r>
              <a:rPr lang="en-GB" sz="4800" b="1" dirty="0">
                <a:latin typeface="Avenir Next LT Pro" panose="020B0504020202020204" pitchFamily="34" charset="0"/>
              </a:rPr>
              <a:t>Contd.</a:t>
            </a:r>
            <a:endParaRPr lang="en-GB" sz="4800" dirty="0">
              <a:latin typeface="Avenir Next LT Pro" panose="020B0504020202020204" pitchFamily="34" charset="0"/>
            </a:endParaRPr>
          </a:p>
        </p:txBody>
      </p:sp>
    </p:spTree>
    <p:extLst>
      <p:ext uri="{BB962C8B-B14F-4D97-AF65-F5344CB8AC3E}">
        <p14:creationId xmlns:p14="http://schemas.microsoft.com/office/powerpoint/2010/main" val="145518142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C9F7DB8C-3743-801B-7F8C-651DC46D5F6D}"/>
              </a:ext>
            </a:extLst>
          </p:cNvPr>
          <p:cNvSpPr>
            <a:spLocks noGrp="1"/>
          </p:cNvSpPr>
          <p:nvPr>
            <p:ph type="ftr" sz="quarter" idx="10"/>
          </p:nvPr>
        </p:nvSpPr>
        <p:spPr/>
        <p:txBody>
          <a:bodyPr/>
          <a:lstStyle/>
          <a:p>
            <a:r>
              <a:rPr lang="en-GB" sz="1600">
                <a:latin typeface="Cairo" pitchFamily="2" charset="-78"/>
                <a:cs typeface="Cairo" pitchFamily="2" charset="-78"/>
              </a:rPr>
              <a:t>Private &amp; Confidential</a:t>
            </a:r>
            <a:endParaRPr lang="en-GB" sz="1600" dirty="0">
              <a:latin typeface="Cairo" pitchFamily="2" charset="-78"/>
              <a:cs typeface="Cairo" pitchFamily="2" charset="-78"/>
            </a:endParaRPr>
          </a:p>
        </p:txBody>
      </p:sp>
      <p:sp>
        <p:nvSpPr>
          <p:cNvPr id="4" name="Slide Number Placeholder 3">
            <a:extLst>
              <a:ext uri="{FF2B5EF4-FFF2-40B4-BE49-F238E27FC236}">
                <a16:creationId xmlns:a16="http://schemas.microsoft.com/office/drawing/2014/main" id="{CB5EE7D6-E53E-9F69-2796-DFA604B6271A}"/>
              </a:ext>
            </a:extLst>
          </p:cNvPr>
          <p:cNvSpPr>
            <a:spLocks noGrp="1"/>
          </p:cNvSpPr>
          <p:nvPr>
            <p:ph type="sldNum" sz="quarter" idx="4294967295"/>
          </p:nvPr>
        </p:nvSpPr>
        <p:spPr>
          <a:xfrm>
            <a:off x="0" y="6376988"/>
            <a:ext cx="2743200" cy="365125"/>
          </a:xfrm>
          <a:prstGeom prst="rect">
            <a:avLst/>
          </a:prstGeom>
        </p:spPr>
        <p:txBody>
          <a:bodyPr/>
          <a:lstStyle/>
          <a:p>
            <a:fld id="{2870BB4D-683F-4BE4-9264-B05BE7781C96}" type="slidenum">
              <a:rPr lang="en-GB" smtClean="0"/>
              <a:pPr/>
              <a:t>13</a:t>
            </a:fld>
            <a:endParaRPr lang="en-GB"/>
          </a:p>
        </p:txBody>
      </p:sp>
    </p:spTree>
    <p:extLst>
      <p:ext uri="{BB962C8B-B14F-4D97-AF65-F5344CB8AC3E}">
        <p14:creationId xmlns:p14="http://schemas.microsoft.com/office/powerpoint/2010/main" val="2001622240"/>
      </p:ext>
    </p:extLst>
  </p:cSld>
  <p:clrMapOvr>
    <a:masterClrMapping/>
  </p:clrMapOvr>
</p:sld>
</file>

<file path=ppt/theme/theme1.xml><?xml version="1.0" encoding="utf-8"?>
<a:theme xmlns:a="http://schemas.openxmlformats.org/drawingml/2006/main" name="10_Custom Design">
  <a:themeElements>
    <a:clrScheme name="ASR 1">
      <a:dk1>
        <a:srgbClr val="240B60"/>
      </a:dk1>
      <a:lt1>
        <a:srgbClr val="FFFFFF"/>
      </a:lt1>
      <a:dk2>
        <a:srgbClr val="4A4F8D"/>
      </a:dk2>
      <a:lt2>
        <a:srgbClr val="8B9FB7"/>
      </a:lt2>
      <a:accent1>
        <a:srgbClr val="240B60"/>
      </a:accent1>
      <a:accent2>
        <a:srgbClr val="ABC0CC"/>
      </a:accent2>
      <a:accent3>
        <a:srgbClr val="CDDDE1"/>
      </a:accent3>
      <a:accent4>
        <a:srgbClr val="8F8935"/>
      </a:accent4>
      <a:accent5>
        <a:srgbClr val="BDB54C"/>
      </a:accent5>
      <a:accent6>
        <a:srgbClr val="CDC879"/>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PT Template" id="{D3BFA0D5-6B97-48B9-8098-E5905484D3C7}" vid="{82E6ABC9-F03F-4061-90BD-CD048933AA3F}"/>
    </a:ext>
  </a:extLst>
</a:theme>
</file>

<file path=ppt/theme/theme2.xml><?xml version="1.0" encoding="utf-8"?>
<a:theme xmlns:a="http://schemas.openxmlformats.org/drawingml/2006/main" name="13_Custom Design">
  <a:themeElements>
    <a:clrScheme name="ASR 1">
      <a:dk1>
        <a:srgbClr val="240B60"/>
      </a:dk1>
      <a:lt1>
        <a:srgbClr val="FFFFFF"/>
      </a:lt1>
      <a:dk2>
        <a:srgbClr val="4A4F8D"/>
      </a:dk2>
      <a:lt2>
        <a:srgbClr val="8B9FB7"/>
      </a:lt2>
      <a:accent1>
        <a:srgbClr val="240B60"/>
      </a:accent1>
      <a:accent2>
        <a:srgbClr val="ABC0CC"/>
      </a:accent2>
      <a:accent3>
        <a:srgbClr val="CDDDE1"/>
      </a:accent3>
      <a:accent4>
        <a:srgbClr val="8F8935"/>
      </a:accent4>
      <a:accent5>
        <a:srgbClr val="BDB54C"/>
      </a:accent5>
      <a:accent6>
        <a:srgbClr val="CDC879"/>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PT Template" id="{D3BFA0D5-6B97-48B9-8098-E5905484D3C7}" vid="{82E6ABC9-F03F-4061-90BD-CD048933AA3F}"/>
    </a:ext>
  </a:extLst>
</a:theme>
</file>

<file path=ppt/theme/theme3.xml><?xml version="1.0" encoding="utf-8"?>
<a:theme xmlns:a="http://schemas.openxmlformats.org/drawingml/2006/main" name="9_Custom Design">
  <a:themeElements>
    <a:clrScheme name="ASR 1">
      <a:dk1>
        <a:srgbClr val="240B60"/>
      </a:dk1>
      <a:lt1>
        <a:srgbClr val="FFFFFF"/>
      </a:lt1>
      <a:dk2>
        <a:srgbClr val="4A4F8D"/>
      </a:dk2>
      <a:lt2>
        <a:srgbClr val="8B9FB7"/>
      </a:lt2>
      <a:accent1>
        <a:srgbClr val="240B60"/>
      </a:accent1>
      <a:accent2>
        <a:srgbClr val="ABC0CC"/>
      </a:accent2>
      <a:accent3>
        <a:srgbClr val="CDDDE1"/>
      </a:accent3>
      <a:accent4>
        <a:srgbClr val="8F8935"/>
      </a:accent4>
      <a:accent5>
        <a:srgbClr val="BDB54C"/>
      </a:accent5>
      <a:accent6>
        <a:srgbClr val="CDC879"/>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PT Template" id="{D3BFA0D5-6B97-48B9-8098-E5905484D3C7}" vid="{82E6ABC9-F03F-4061-90BD-CD048933AA3F}"/>
    </a:ext>
  </a:extLst>
</a:theme>
</file>

<file path=ppt/theme/theme4.xml><?xml version="1.0" encoding="utf-8"?>
<a:theme xmlns:a="http://schemas.openxmlformats.org/drawingml/2006/main" name="14_Custom Design">
  <a:themeElements>
    <a:clrScheme name="ASR">
      <a:dk1>
        <a:srgbClr val="240B60"/>
      </a:dk1>
      <a:lt1>
        <a:sysClr val="window" lastClr="FFFFFF"/>
      </a:lt1>
      <a:dk2>
        <a:srgbClr val="44546A"/>
      </a:dk2>
      <a:lt2>
        <a:srgbClr val="E7E6E6"/>
      </a:lt2>
      <a:accent1>
        <a:srgbClr val="240B60"/>
      </a:accent1>
      <a:accent2>
        <a:srgbClr val="8F8935"/>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PT Template" id="{D3BFA0D5-6B97-48B9-8098-E5905484D3C7}" vid="{C889FD7B-E332-4B22-AD15-DE5C5D5B8846}"/>
    </a:ext>
  </a:extLst>
</a:theme>
</file>

<file path=ppt/theme/theme5.xml><?xml version="1.0" encoding="utf-8"?>
<a:theme xmlns:a="http://schemas.openxmlformats.org/drawingml/2006/main" name="12_Custom Design">
  <a:themeElements>
    <a:clrScheme name="ASR 1">
      <a:dk1>
        <a:srgbClr val="240B60"/>
      </a:dk1>
      <a:lt1>
        <a:srgbClr val="FFFFFF"/>
      </a:lt1>
      <a:dk2>
        <a:srgbClr val="4A4F8D"/>
      </a:dk2>
      <a:lt2>
        <a:srgbClr val="8B9FB7"/>
      </a:lt2>
      <a:accent1>
        <a:srgbClr val="240B60"/>
      </a:accent1>
      <a:accent2>
        <a:srgbClr val="ABC0CC"/>
      </a:accent2>
      <a:accent3>
        <a:srgbClr val="CDDDE1"/>
      </a:accent3>
      <a:accent4>
        <a:srgbClr val="8F8935"/>
      </a:accent4>
      <a:accent5>
        <a:srgbClr val="BDB54C"/>
      </a:accent5>
      <a:accent6>
        <a:srgbClr val="CDC879"/>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PT Template" id="{D3BFA0D5-6B97-48B9-8098-E5905484D3C7}" vid="{82E6ABC9-F03F-4061-90BD-CD048933AA3F}"/>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FormName xmlns="89265ff7-2d35-4db8-b915-0105e95ab6bd" xsi:nil="true"/>
    <FormVersion xmlns="89265ff7-2d35-4db8-b915-0105e95ab6bd" xsi:nil="true"/>
    <CustomContentTypeId xmlns="89265ff7-2d35-4db8-b915-0105e95ab6bd" xsi:nil="true"/>
    <ShowInCatalog xmlns="89265ff7-2d35-4db8-b915-0105e95ab6bd">true</ShowInCatalog>
    <FormCategory xmlns="89265ff7-2d35-4db8-b915-0105e95ab6bd" xsi:nil="true"/>
    <FormDescription xmlns="89265ff7-2d35-4db8-b915-0105e95ab6bd" xsi:nil="true"/>
    <FormLocale xmlns="89265ff7-2d35-4db8-b915-0105e95ab6bd" xsi:nil="true"/>
    <FormId xmlns="89265ff7-2d35-4db8-b915-0105e95ab6bd"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InfoPath Form Template" ma:contentTypeID="0x010100F8EF98760CBA4A94994F13BA881038FA004FDA88259E2DCB40A89F89B9574DB257" ma:contentTypeVersion="0" ma:contentTypeDescription="A Microsoft InfoPath Form Template." ma:contentTypeScope="" ma:versionID="d1f948aa6faf9d67ed6fd5d8a36f071a">
  <xsd:schema xmlns:xsd="http://www.w3.org/2001/XMLSchema" xmlns:xs="http://www.w3.org/2001/XMLSchema" xmlns:p="http://schemas.microsoft.com/office/2006/metadata/properties" xmlns:ns2="89265ff7-2d35-4db8-b915-0105e95ab6bd" targetNamespace="http://schemas.microsoft.com/office/2006/metadata/properties" ma:root="true" ma:fieldsID="897ca4c9bf60cf34c28f59e80fa43a95" ns2:_="">
    <xsd:import namespace="89265ff7-2d35-4db8-b915-0105e95ab6bd"/>
    <xsd:element name="properties">
      <xsd:complexType>
        <xsd:sequence>
          <xsd:element name="documentManagement">
            <xsd:complexType>
              <xsd:all>
                <xsd:element ref="ns2:FormName" minOccurs="0"/>
                <xsd:element ref="ns2:FormCategory" minOccurs="0"/>
                <xsd:element ref="ns2:FormVersion" minOccurs="0"/>
                <xsd:element ref="ns2:FormId" minOccurs="0"/>
                <xsd:element ref="ns2:FormLocale" minOccurs="0"/>
                <xsd:element ref="ns2:FormDescription" minOccurs="0"/>
                <xsd:element ref="ns2:CustomContentTypeId" minOccurs="0"/>
                <xsd:element ref="ns2:ShowInCatalog"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9265ff7-2d35-4db8-b915-0105e95ab6bd" elementFormDefault="qualified">
    <xsd:import namespace="http://schemas.microsoft.com/office/2006/documentManagement/types"/>
    <xsd:import namespace="http://schemas.microsoft.com/office/infopath/2007/PartnerControls"/>
    <xsd:element name="FormName" ma:index="8" nillable="true" ma:displayName="Form Name" ma:internalName="FormName">
      <xsd:simpleType>
        <xsd:restriction base="dms:Text"/>
      </xsd:simpleType>
    </xsd:element>
    <xsd:element name="FormCategory" ma:index="9" nillable="true" ma:displayName="Form Category" ma:internalName="FormCategory">
      <xsd:simpleType>
        <xsd:restriction base="dms:Text"/>
      </xsd:simpleType>
    </xsd:element>
    <xsd:element name="FormVersion" ma:index="10" nillable="true" ma:displayName="Form Version" ma:internalName="FormVersion">
      <xsd:simpleType>
        <xsd:restriction base="dms:Text"/>
      </xsd:simpleType>
    </xsd:element>
    <xsd:element name="FormId" ma:index="11" nillable="true" ma:displayName="Form ID" ma:internalName="FormId">
      <xsd:simpleType>
        <xsd:restriction base="dms:Text"/>
      </xsd:simpleType>
    </xsd:element>
    <xsd:element name="FormLocale" ma:index="12" nillable="true" ma:displayName="Form Locale" ma:internalName="FormLocale">
      <xsd:simpleType>
        <xsd:restriction base="dms:Text"/>
      </xsd:simpleType>
    </xsd:element>
    <xsd:element name="FormDescription" ma:index="13" nillable="true" ma:displayName="Form Description" ma:internalName="FormDescription">
      <xsd:simpleType>
        <xsd:restriction base="dms:Text"/>
      </xsd:simpleType>
    </xsd:element>
    <xsd:element name="CustomContentTypeId" ma:index="14" nillable="true" ma:displayName="Content Type ID" ma:hidden="true" ma:internalName="CustomContentTypeId">
      <xsd:simpleType>
        <xsd:restriction base="dms:Text"/>
      </xsd:simpleType>
    </xsd:element>
    <xsd:element name="ShowInCatalog" ma:index="15" nillable="true" ma:displayName="Show in Catalog" ma:default="TRUE" ma:internalName="ShowInCatalog">
      <xsd:simpleType>
        <xsd:restriction base="dms:Boolea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BB22DCBE-9C7E-4BE1-85B6-B0CA7F0A3F71}">
  <ds:schemaRefs>
    <ds:schemaRef ds:uri="http://www.w3.org/XML/1998/namespace"/>
    <ds:schemaRef ds:uri="http://schemas.microsoft.com/office/2006/documentManagement/types"/>
    <ds:schemaRef ds:uri="a5f7a1e1-9387-40ab-8a7d-ee5693676b3a"/>
    <ds:schemaRef ds:uri="fd24535e-ce4e-45d9-b295-9edb2445c78a"/>
    <ds:schemaRef ds:uri="http://purl.org/dc/dcmitype/"/>
    <ds:schemaRef ds:uri="http://schemas.microsoft.com/office/2006/metadata/properties"/>
    <ds:schemaRef ds:uri="http://purl.org/dc/terms/"/>
    <ds:schemaRef ds:uri="http://schemas.microsoft.com/office/infopath/2007/PartnerControls"/>
    <ds:schemaRef ds:uri="http://schemas.openxmlformats.org/package/2006/metadata/core-properties"/>
    <ds:schemaRef ds:uri="http://purl.org/dc/elements/1.1/"/>
    <ds:schemaRef ds:uri="89265ff7-2d35-4db8-b915-0105e95ab6bd"/>
  </ds:schemaRefs>
</ds:datastoreItem>
</file>

<file path=customXml/itemProps2.xml><?xml version="1.0" encoding="utf-8"?>
<ds:datastoreItem xmlns:ds="http://schemas.openxmlformats.org/officeDocument/2006/customXml" ds:itemID="{9E75A543-058D-4411-9733-C9151F2912F4}">
  <ds:schemaRefs>
    <ds:schemaRef ds:uri="http://schemas.microsoft.com/sharepoint/v3/contenttype/forms"/>
  </ds:schemaRefs>
</ds:datastoreItem>
</file>

<file path=customXml/itemProps3.xml><?xml version="1.0" encoding="utf-8"?>
<ds:datastoreItem xmlns:ds="http://schemas.openxmlformats.org/officeDocument/2006/customXml" ds:itemID="{C103EF72-4B67-47B8-B5B0-088990106B46}">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89265ff7-2d35-4db8-b915-0105e95ab6bd"/>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clbl:label id="{e2e768f6-fef1-4ac6-84bc-1d77352d9175}" enabled="0" method="" siteId="{e2e768f6-fef1-4ac6-84bc-1d77352d9175}" removed="1"/>
</clbl:labelList>
</file>

<file path=docProps/app.xml><?xml version="1.0" encoding="utf-8"?>
<Properties xmlns="http://schemas.openxmlformats.org/officeDocument/2006/extended-properties" xmlns:vt="http://schemas.openxmlformats.org/officeDocument/2006/docPropsVTypes">
  <TotalTime>7161</TotalTime>
  <Words>2770</Words>
  <Application>Microsoft Office PowerPoint</Application>
  <PresentationFormat>Widescreen</PresentationFormat>
  <Paragraphs>152</Paragraphs>
  <Slides>13</Slides>
  <Notes>12</Notes>
  <HiddenSlides>1</HiddenSlides>
  <MMClips>0</MMClips>
  <ScaleCrop>false</ScaleCrop>
  <HeadingPairs>
    <vt:vector size="6" baseType="variant">
      <vt:variant>
        <vt:lpstr>Fonts Used</vt:lpstr>
      </vt:variant>
      <vt:variant>
        <vt:i4>9</vt:i4>
      </vt:variant>
      <vt:variant>
        <vt:lpstr>Theme</vt:lpstr>
      </vt:variant>
      <vt:variant>
        <vt:i4>5</vt:i4>
      </vt:variant>
      <vt:variant>
        <vt:lpstr>Slide Titles</vt:lpstr>
      </vt:variant>
      <vt:variant>
        <vt:i4>13</vt:i4>
      </vt:variant>
    </vt:vector>
  </HeadingPairs>
  <TitlesOfParts>
    <vt:vector size="27" baseType="lpstr">
      <vt:lpstr>Avenir Next LT Pro</vt:lpstr>
      <vt:lpstr>Wingdings</vt:lpstr>
      <vt:lpstr>Cario</vt:lpstr>
      <vt:lpstr>Cairo Medium</vt:lpstr>
      <vt:lpstr>Arial</vt:lpstr>
      <vt:lpstr>Courier New</vt:lpstr>
      <vt:lpstr>Segoe WPC</vt:lpstr>
      <vt:lpstr>Cairo</vt:lpstr>
      <vt:lpstr>Calibri</vt:lpstr>
      <vt:lpstr>10_Custom Design</vt:lpstr>
      <vt:lpstr>13_Custom Design</vt:lpstr>
      <vt:lpstr>9_Custom Design</vt:lpstr>
      <vt:lpstr>14_Custom Design</vt:lpstr>
      <vt:lpstr>12_Custom Design</vt:lpstr>
      <vt:lpstr>Agricultural Flood Risk Analysis for Africa</vt:lpstr>
      <vt:lpstr>PowerPoint Presentation</vt:lpstr>
      <vt:lpstr>Enabling Cross-Continental Spread of Risk</vt:lpstr>
      <vt:lpstr>Area of Interest: Agricultural Soil Saturation</vt:lpstr>
      <vt:lpstr>Data Selection: Copernicus Soil Water Index (SWI)</vt:lpstr>
      <vt:lpstr>Why 95 Percentile + 85% Absolute threshold ?</vt:lpstr>
      <vt:lpstr>5-Day vs. 7-Day </vt:lpstr>
      <vt:lpstr>PowerPoint Presentation</vt:lpstr>
      <vt:lpstr>Spatial Clustering</vt:lpstr>
      <vt:lpstr>Clustering Comparison: 60/40 vs. 70/30 Weightings</vt:lpstr>
      <vt:lpstr>References:</vt:lpstr>
      <vt:lpstr>Contd.</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ASR Information Pack</dc:title>
  <dc:subject/>
  <dc:creator>Nicola Bellamy</dc:creator>
  <cp:keywords/>
  <dc:description/>
  <cp:lastModifiedBy>Flawiya Shirish More</cp:lastModifiedBy>
  <cp:revision>14</cp:revision>
  <cp:lastPrinted>2023-09-07T16:21:44Z</cp:lastPrinted>
  <dcterms:created xsi:type="dcterms:W3CDTF">2020-10-21T12:21:11Z</dcterms:created>
  <dcterms:modified xsi:type="dcterms:W3CDTF">2026-09-17T13:19:33Z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0x010100F8EF98760CBA4A94994F13BA881038FA004FDA88259E2DCB40A89F89B9574DB257</vt:lpwstr>
  </property>
  <property fmtid="{D5CDD505-2E9C-101B-9397-08002B2CF9AE}" pid="3" name="ComplianceAssetId">
    <vt:lpwstr/>
  </property>
  <property fmtid="{D5CDD505-2E9C-101B-9397-08002B2CF9AE}" pid="4" name="_ExtendedDescription">
    <vt:lpwstr/>
  </property>
  <property fmtid="{D5CDD505-2E9C-101B-9397-08002B2CF9AE}" pid="5" name="MediaServiceImageTags">
    <vt:lpwstr/>
  </property>
  <property fmtid="{D5CDD505-2E9C-101B-9397-08002B2CF9AE}" pid="6" name="TitusGUID">
    <vt:lpwstr>31b5e933-b25f-4668-8444-a9f645c08de3</vt:lpwstr>
  </property>
  <property fmtid="{D5CDD505-2E9C-101B-9397-08002B2CF9AE}" pid="7" name="AonClassification">
    <vt:lpwstr>ADC_class_100</vt:lpwstr>
  </property>
  <property fmtid="{D5CDD505-2E9C-101B-9397-08002B2CF9AE}" pid="8" name="lcf76f155ced4ddcb4097134ff3c332f">
    <vt:lpwstr/>
  </property>
  <property fmtid="{D5CDD505-2E9C-101B-9397-08002B2CF9AE}" pid="9" name="TaxCatchAll">
    <vt:lpwstr/>
  </property>
</Properties>
</file>